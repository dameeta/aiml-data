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8"/>
  </p:notesMasterIdLst>
  <p:sldIdLst>
    <p:sldId id="256" r:id="rId3"/>
    <p:sldId id="257" r:id="rId4"/>
    <p:sldId id="258" r:id="rId5"/>
    <p:sldId id="259" r:id="rId6"/>
    <p:sldId id="321" r:id="rId7"/>
    <p:sldId id="322" r:id="rId8"/>
    <p:sldId id="260" r:id="rId9"/>
    <p:sldId id="300" r:id="rId10"/>
    <p:sldId id="261" r:id="rId11"/>
    <p:sldId id="311" r:id="rId12"/>
    <p:sldId id="262" r:id="rId13"/>
    <p:sldId id="317" r:id="rId14"/>
    <p:sldId id="263" r:id="rId15"/>
    <p:sldId id="318" r:id="rId16"/>
    <p:sldId id="319" r:id="rId17"/>
    <p:sldId id="265" r:id="rId18"/>
    <p:sldId id="312" r:id="rId19"/>
    <p:sldId id="313" r:id="rId20"/>
    <p:sldId id="266" r:id="rId21"/>
    <p:sldId id="314" r:id="rId22"/>
    <p:sldId id="267" r:id="rId23"/>
    <p:sldId id="315" r:id="rId24"/>
    <p:sldId id="316" r:id="rId25"/>
    <p:sldId id="268" r:id="rId26"/>
    <p:sldId id="269" r:id="rId27"/>
    <p:sldId id="270" r:id="rId28"/>
    <p:sldId id="271" r:id="rId29"/>
    <p:sldId id="272" r:id="rId30"/>
    <p:sldId id="273" r:id="rId31"/>
    <p:sldId id="274" r:id="rId32"/>
    <p:sldId id="275" r:id="rId33"/>
    <p:sldId id="301" r:id="rId34"/>
    <p:sldId id="302" r:id="rId35"/>
    <p:sldId id="303" r:id="rId36"/>
    <p:sldId id="299" r:id="rId37"/>
    <p:sldId id="276" r:id="rId38"/>
    <p:sldId id="294" r:id="rId39"/>
    <p:sldId id="295" r:id="rId40"/>
    <p:sldId id="277" r:id="rId41"/>
    <p:sldId id="298" r:id="rId42"/>
    <p:sldId id="278" r:id="rId43"/>
    <p:sldId id="297" r:id="rId44"/>
    <p:sldId id="279" r:id="rId45"/>
    <p:sldId id="296" r:id="rId46"/>
    <p:sldId id="280" r:id="rId47"/>
    <p:sldId id="281" r:id="rId48"/>
    <p:sldId id="282" r:id="rId49"/>
    <p:sldId id="283" r:id="rId50"/>
    <p:sldId id="284" r:id="rId51"/>
    <p:sldId id="285" r:id="rId52"/>
    <p:sldId id="286" r:id="rId53"/>
    <p:sldId id="287" r:id="rId54"/>
    <p:sldId id="309" r:id="rId55"/>
    <p:sldId id="304" r:id="rId56"/>
    <p:sldId id="305" r:id="rId57"/>
    <p:sldId id="306" r:id="rId58"/>
    <p:sldId id="310" r:id="rId59"/>
    <p:sldId id="288" r:id="rId60"/>
    <p:sldId id="320" r:id="rId61"/>
    <p:sldId id="307" r:id="rId62"/>
    <p:sldId id="289" r:id="rId63"/>
    <p:sldId id="290" r:id="rId64"/>
    <p:sldId id="291" r:id="rId65"/>
    <p:sldId id="292" r:id="rId66"/>
    <p:sldId id="293"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5"/>
        <p:guide pos="384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notesMaster" Target="notesMasters/notesMaster1.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1.xml"/><Relationship Id="rId2" Type="http://schemas.openxmlformats.org/officeDocument/2006/relationships/image" Target="../media/image3.jpeg"/><Relationship Id="rId1" Type="http://schemas.openxmlformats.org/officeDocument/2006/relationships/tags" Target="../tags/tag80.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image" Target="../media/image9.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image" Target="../media/image10.jpe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image" Target="../media/image11.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8.xml"/><Relationship Id="rId1" Type="http://schemas.openxmlformats.org/officeDocument/2006/relationships/image" Target="../media/image12.jpe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image" Target="../media/image13.jpe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5.xml"/><Relationship Id="rId2" Type="http://schemas.openxmlformats.org/officeDocument/2006/relationships/image" Target="../media/image14.jpeg"/><Relationship Id="rId1" Type="http://schemas.openxmlformats.org/officeDocument/2006/relationships/tags" Target="../tags/tag13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6.xml"/><Relationship Id="rId1" Type="http://schemas.openxmlformats.org/officeDocument/2006/relationships/image" Target="../media/image15.jpe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image" Target="../media/image16.jpe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3.xml"/><Relationship Id="rId3" Type="http://schemas.openxmlformats.org/officeDocument/2006/relationships/image" Target="../media/image17.jpeg"/><Relationship Id="rId2" Type="http://schemas.openxmlformats.org/officeDocument/2006/relationships/tags" Target="../tags/tag142.xml"/><Relationship Id="rId1" Type="http://schemas.openxmlformats.org/officeDocument/2006/relationships/tags" Target="../tags/tag141.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5.xml"/><Relationship Id="rId2" Type="http://schemas.openxmlformats.org/officeDocument/2006/relationships/image" Target="../media/image18.jpeg"/><Relationship Id="rId1" Type="http://schemas.openxmlformats.org/officeDocument/2006/relationships/tags" Target="../tags/tag144.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0.xml"/><Relationship Id="rId2" Type="http://schemas.openxmlformats.org/officeDocument/2006/relationships/image" Target="../media/image19.jpeg"/><Relationship Id="rId1" Type="http://schemas.openxmlformats.org/officeDocument/2006/relationships/tags" Target="../tags/tag149.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5.xml"/><Relationship Id="rId2" Type="http://schemas.openxmlformats.org/officeDocument/2006/relationships/image" Target="../media/image20.jpeg"/><Relationship Id="rId1" Type="http://schemas.openxmlformats.org/officeDocument/2006/relationships/tags" Target="../tags/tag154.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9.xml"/><Relationship Id="rId1" Type="http://schemas.openxmlformats.org/officeDocument/2006/relationships/image" Target="../media/image21.jpe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4.xml"/><Relationship Id="rId1" Type="http://schemas.openxmlformats.org/officeDocument/2006/relationships/image" Target="../media/image22.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5.xml"/><Relationship Id="rId1" Type="http://schemas.openxmlformats.org/officeDocument/2006/relationships/image" Target="../media/image23.jpe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image" Target="../media/image24.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7.xml"/><Relationship Id="rId1" Type="http://schemas.openxmlformats.org/officeDocument/2006/relationships/image" Target="../media/image25.jpe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8.xml"/><Relationship Id="rId1" Type="http://schemas.openxmlformats.org/officeDocument/2006/relationships/image" Target="../media/image26.jpe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2.xml"/><Relationship Id="rId1" Type="http://schemas.openxmlformats.org/officeDocument/2006/relationships/image" Target="../media/image27.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3.xml"/><Relationship Id="rId1" Type="http://schemas.openxmlformats.org/officeDocument/2006/relationships/image" Target="../media/image28.jpe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IN" altLang="en-US"/>
              <a:t>Introduction to AI</a:t>
            </a:r>
            <a:endParaRPr lang="en-IN" altLang="en-US"/>
          </a:p>
        </p:txBody>
      </p:sp>
      <p:sp>
        <p:nvSpPr>
          <p:cNvPr id="3" name="Subtitle 2"/>
          <p:cNvSpPr>
            <a:spLocks noGrp="1"/>
          </p:cNvSpPr>
          <p:nvPr>
            <p:ph type="subTitle" idx="1"/>
            <p:custDataLst>
              <p:tags r:id="rId2"/>
            </p:custDataLst>
          </p:nvPr>
        </p:nvSpPr>
        <p:spPr/>
        <p:txBody>
          <a:bodyPr/>
          <a:p>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t>Introduction to AI engineering</a:t>
            </a:r>
            <a:endParaRPr lang="en-IN" altLang="en-US"/>
          </a:p>
        </p:txBody>
      </p:sp>
      <p:sp>
        <p:nvSpPr>
          <p:cNvPr id="3" name="Content Placeholder 2"/>
          <p:cNvSpPr>
            <a:spLocks noGrp="1"/>
          </p:cNvSpPr>
          <p:nvPr>
            <p:ph idx="1"/>
            <p:custDataLst>
              <p:tags r:id="rId2"/>
            </p:custDataLst>
          </p:nvPr>
        </p:nvSpPr>
        <p:spPr/>
        <p:txBody>
          <a:bodyPr/>
          <a:p>
            <a:pPr marL="0" indent="0">
              <a:buNone/>
            </a:pPr>
            <a:r>
              <a:rPr lang="en-IN" altLang="en-US" sz="2800" b="1"/>
              <a:t>Topics~</a:t>
            </a:r>
            <a:br>
              <a:rPr lang="en-IN" altLang="en-US" sz="2800" b="1"/>
            </a:br>
            <a:r>
              <a:rPr lang="en-IN" altLang="en-US" sz="2400" b="1"/>
              <a:t>1.</a:t>
            </a:r>
            <a:r>
              <a:rPr lang="en-IN" altLang="en-US" sz="2800" b="1"/>
              <a:t> </a:t>
            </a:r>
            <a:r>
              <a:rPr lang="en-IN" altLang="en-US" sz="2400" b="1"/>
              <a:t>AI ENGINEERING OVERVIEW</a:t>
            </a:r>
            <a:br>
              <a:rPr lang="en-IN" altLang="en-US" sz="2400" b="1"/>
            </a:br>
            <a:r>
              <a:rPr lang="en-IN" altLang="en-US" sz="2400" b="1"/>
              <a:t>2. </a:t>
            </a:r>
            <a:r>
              <a:rPr lang="en-US" altLang="en-US" sz="2400" b="1"/>
              <a:t>Enterprise AI Architecture</a:t>
            </a:r>
            <a:br>
              <a:rPr lang="en-IN" altLang="en-US" sz="2400" b="1"/>
            </a:br>
            <a:br>
              <a:rPr lang="en-IN" altLang="en-US" sz="2000" b="1"/>
            </a:br>
            <a:endParaRPr lang="en-IN" altLang="en-US" sz="2000" b="1"/>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AI engineering overview</a:t>
            </a:r>
            <a:endParaRPr lang="en-IN" altLang="en-US"/>
          </a:p>
        </p:txBody>
      </p:sp>
      <p:sp>
        <p:nvSpPr>
          <p:cNvPr id="3" name="Content Placeholder 2"/>
          <p:cNvSpPr>
            <a:spLocks noGrp="1"/>
          </p:cNvSpPr>
          <p:nvPr>
            <p:ph idx="1"/>
            <p:custDataLst>
              <p:tags r:id="rId2"/>
            </p:custDataLst>
          </p:nvPr>
        </p:nvSpPr>
        <p:spPr/>
        <p:txBody>
          <a:bodyPr>
            <a:normAutofit lnSpcReduction="20000"/>
          </a:bodyPr>
          <a:p>
            <a:pPr marL="0" indent="0">
              <a:buNone/>
            </a:pPr>
            <a:r>
              <a:rPr lang="en-US" altLang="en-US" sz="2400" b="1"/>
              <a:t>AI Engineering Overview</a:t>
            </a:r>
            <a:endParaRPr lang="en-US" altLang="en-US" sz="2400"/>
          </a:p>
          <a:p>
            <a:pPr marL="0" indent="0">
              <a:buNone/>
            </a:pPr>
            <a:endParaRPr lang="en-US" altLang="en-US"/>
          </a:p>
          <a:p>
            <a:pPr marL="0" indent="0">
              <a:buNone/>
            </a:pPr>
            <a:r>
              <a:rPr lang="en-US" altLang="en-US" sz="2000"/>
              <a:t>AI Engineering is a field that focuses on designing, developing, and deploying artificial intelligence systems to solve real-world problems. It combines concepts from artificial intelligence, machine learning, data science, and software engineering to create intelligent applications. AI engineers develop systems that can analyze data, learn from patterns, and make decisions with minimal human intervention. AI Engineering is widely used in areas such as healthcare, finance, education, transportation, and customer service to improve efficiency and productivity.</a:t>
            </a:r>
            <a:endParaRPr lang="en-US" altLang="en-US" sz="2000"/>
          </a:p>
          <a:p>
            <a:pPr marL="0" indent="0">
              <a:buNone/>
            </a:pPr>
            <a:endParaRPr lang="en-US" altLang="en-US" sz="2000"/>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Enterprise AI architecture</a:t>
            </a:r>
            <a:endParaRPr lang="en-IN" altLang="en-US"/>
          </a:p>
        </p:txBody>
      </p:sp>
      <p:sp>
        <p:nvSpPr>
          <p:cNvPr id="3" name="Content Placeholder 2"/>
          <p:cNvSpPr>
            <a:spLocks noGrp="1"/>
          </p:cNvSpPr>
          <p:nvPr>
            <p:ph idx="1"/>
            <p:custDataLst>
              <p:tags r:id="rId2"/>
            </p:custDataLst>
          </p:nvPr>
        </p:nvSpPr>
        <p:spPr/>
        <p:txBody>
          <a:bodyPr>
            <a:normAutofit/>
          </a:bodyPr>
          <a:p>
            <a:pPr marL="0" indent="0">
              <a:buNone/>
            </a:pPr>
            <a:r>
              <a:rPr lang="en-US" altLang="en-US" sz="2400" b="1"/>
              <a:t>Enterprise AI Architecture</a:t>
            </a:r>
            <a:endParaRPr lang="en-US" altLang="en-US"/>
          </a:p>
          <a:p>
            <a:pPr marL="0" indent="0">
              <a:buNone/>
            </a:pPr>
            <a:endParaRPr lang="en-US" altLang="en-US"/>
          </a:p>
          <a:p>
            <a:pPr marL="0" indent="0">
              <a:buNone/>
            </a:pPr>
            <a:r>
              <a:rPr lang="en-US" altLang="en-US" sz="2000"/>
              <a:t>Enterprise AI Architecture refers to the structured framework that enables organizations to integrate artificial intelligence into their business operations. It combines data sources, AI models, software applications, and computing infrastructure to create intelligent systems that support business goals. A well-designed AI architecture ensures that AI solutions are scalable, secure, and efficient. It also helps organizations manage data effectively, automate processes, and improve decision-making across different departments.</a:t>
            </a:r>
            <a:endParaRPr lang="en-US" altLang="en-US" sz="2000"/>
          </a:p>
          <a:p>
            <a:pPr marL="0" indent="0">
              <a:buNone/>
            </a:pPr>
            <a:endParaRPr lang="en-US" altLang="en-US" sz="2000"/>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711325" y="2133600"/>
            <a:ext cx="8388350" cy="2209800"/>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460500" y="1238250"/>
            <a:ext cx="8890000" cy="4000500"/>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Information Retrieval Fundamentals</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Topics~</a:t>
            </a:r>
            <a:br>
              <a:rPr lang="en-IN" altLang="en-US" sz="2800"/>
            </a:br>
            <a:r>
              <a:rPr lang="en-IN" altLang="en-US" sz="2400"/>
              <a:t>1. Documents</a:t>
            </a:r>
            <a:br>
              <a:rPr lang="en-IN" altLang="en-US" sz="2400"/>
            </a:br>
            <a:r>
              <a:rPr lang="en-IN" altLang="en-US" sz="2400"/>
              <a:t>2. Queries</a:t>
            </a:r>
            <a:br>
              <a:rPr lang="en-IN" altLang="en-US" sz="2400"/>
            </a:br>
            <a:r>
              <a:rPr lang="en-IN" altLang="en-US" sz="2400"/>
              <a:t>3. Ranking system</a:t>
            </a:r>
            <a:br>
              <a:rPr lang="en-IN" altLang="en-US" sz="2400"/>
            </a:br>
            <a:endParaRPr lang="en-US" altLang="en-US" sz="2400"/>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IN" altLang="en-US"/>
              <a:t>LLM </a:t>
            </a:r>
            <a:endParaRPr lang="en-IN" altLang="en-US"/>
          </a:p>
        </p:txBody>
      </p:sp>
      <p:pic>
        <p:nvPicPr>
          <p:cNvPr id="4" name="Picture 3"/>
          <p:cNvPicPr/>
          <p:nvPr/>
        </p:nvPicPr>
        <p:blipFill>
          <a:blip r:embed="rId2"/>
          <a:stretch>
            <a:fillRect/>
          </a:stretch>
        </p:blipFill>
        <p:spPr>
          <a:xfrm>
            <a:off x="1133475" y="1774825"/>
            <a:ext cx="9544050" cy="2927350"/>
          </a:xfrm>
          <a:prstGeom prst="rect">
            <a:avLst/>
          </a:prstGeom>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Documents</a:t>
            </a:r>
            <a:endParaRPr lang="en-IN" altLang="en-US"/>
          </a:p>
        </p:txBody>
      </p:sp>
      <p:sp>
        <p:nvSpPr>
          <p:cNvPr id="3" name="Content Placeholder 2"/>
          <p:cNvSpPr>
            <a:spLocks noGrp="1"/>
          </p:cNvSpPr>
          <p:nvPr>
            <p:ph idx="1"/>
            <p:custDataLst>
              <p:tags r:id="rId2"/>
            </p:custDataLst>
          </p:nvPr>
        </p:nvSpPr>
        <p:spPr/>
        <p:txBody>
          <a:bodyPr>
            <a:normAutofit lnSpcReduction="20000"/>
          </a:bodyPr>
          <a:p>
            <a:pPr marL="0" indent="0">
              <a:buNone/>
            </a:pPr>
            <a:r>
              <a:rPr lang="en-US" altLang="en-US"/>
              <a:t>In Information Retrieval, documents are the stored units of information that a system can search through to provide answers to a user’s request. These documents can include web pages, books, articles, reports, emails, images, or any other form of digital content.</a:t>
            </a:r>
            <a:endParaRPr lang="en-US" altLang="en-US"/>
          </a:p>
          <a:p>
            <a:pPr marL="0" indent="0">
              <a:buNone/>
            </a:pPr>
            <a:endParaRPr lang="en-US" altLang="en-US"/>
          </a:p>
          <a:p>
            <a:pPr marL="0" indent="0">
              <a:buNone/>
            </a:pPr>
            <a:r>
              <a:rPr lang="en-US" altLang="en-US"/>
              <a:t>Documents form the main data collection in an information retrieval system. When a user enters a query, the system scans through these documents to find the ones that best match the request.</a:t>
            </a:r>
            <a:endParaRPr lang="en-US" altLang="en-US"/>
          </a:p>
          <a:p>
            <a:pPr marL="0" indent="0">
              <a:buNone/>
            </a:pPr>
            <a:endParaRPr lang="en-US" altLang="en-US"/>
          </a:p>
          <a:p>
            <a:pPr marL="0" indent="0">
              <a:buNone/>
            </a:pPr>
            <a:r>
              <a:rPr lang="en-US" altLang="en-US"/>
              <a:t>The quality, structure, and organization of documents directly affect how accurately and efficiently relevant information can be retrieved.</a:t>
            </a:r>
            <a:endParaRPr lang="en-US" altLang="en-US"/>
          </a:p>
          <a:p>
            <a:pPr marL="0" indent="0">
              <a:buNone/>
            </a:pPr>
            <a:endParaRPr lang="en-US"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912495" y="541655"/>
            <a:ext cx="9438005" cy="5173345"/>
          </a:xfrm>
          <a:prstGeom prst="rect">
            <a:avLst/>
          </a:prstGeom>
        </p:spPr>
      </p:pic>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Queries</a:t>
            </a:r>
            <a:endParaRPr lang="en-IN" altLang="en-US"/>
          </a:p>
        </p:txBody>
      </p:sp>
      <p:sp>
        <p:nvSpPr>
          <p:cNvPr id="3" name="Content Placeholder 2"/>
          <p:cNvSpPr>
            <a:spLocks noGrp="1"/>
          </p:cNvSpPr>
          <p:nvPr>
            <p:ph idx="1"/>
            <p:custDataLst>
              <p:tags r:id="rId2"/>
            </p:custDataLst>
          </p:nvPr>
        </p:nvSpPr>
        <p:spPr/>
        <p:txBody>
          <a:bodyPr>
            <a:normAutofit/>
          </a:bodyPr>
          <a:p>
            <a:pPr marL="0" indent="0">
              <a:buNone/>
            </a:pPr>
            <a:r>
              <a:rPr lang="en-US" altLang="en-US"/>
              <a:t>In Information Retrieval, a query is the input given by a user to search for specific information from a collection of documents. It represents what the user is looking for and acts as the starting point of the search process.</a:t>
            </a:r>
            <a:endParaRPr lang="en-US" altLang="en-US"/>
          </a:p>
          <a:p>
            <a:pPr marL="0" indent="0">
              <a:buNone/>
            </a:pPr>
            <a:endParaRPr lang="en-US" altLang="en-US"/>
          </a:p>
          <a:p>
            <a:pPr marL="0" indent="0">
              <a:buNone/>
            </a:pPr>
            <a:r>
              <a:rPr lang="en-US" altLang="en-US"/>
              <a:t>A query can be a word, a phrase, or a full question depending on the user’s need. When a query is submitted, the system analyzes it and compares it with stored documents to find the most relevant results.</a:t>
            </a:r>
            <a:endParaRPr lang="en-US" altLang="en-US"/>
          </a:p>
          <a:p>
            <a:pPr marL="0" indent="0">
              <a:buNone/>
            </a:pPr>
            <a:endParaRPr lang="en-US" altLang="en-US"/>
          </a:p>
          <a:p>
            <a:pPr marL="0" indent="0">
              <a:buNone/>
            </a:pPr>
            <a:r>
              <a:rPr lang="en-US" altLang="en-US"/>
              <a:t>Queries are important because the accuracy of search results depends on how clearly the user expresses their information need. A well-formed query helps the system return better and more relevant documents.</a:t>
            </a:r>
            <a:endParaRPr lang="en-US" altLang="en-US"/>
          </a:p>
          <a:p>
            <a:pPr marL="0" indent="0">
              <a:buNone/>
            </a:pPr>
            <a:endParaRPr lang="en-US"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2164715" y="1333500"/>
            <a:ext cx="8059420" cy="3896360"/>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Ranking system</a:t>
            </a:r>
            <a:endParaRPr lang="en-IN" altLang="en-US"/>
          </a:p>
        </p:txBody>
      </p:sp>
      <p:sp>
        <p:nvSpPr>
          <p:cNvPr id="3" name="Content Placeholder 2"/>
          <p:cNvSpPr>
            <a:spLocks noGrp="1"/>
          </p:cNvSpPr>
          <p:nvPr>
            <p:ph idx="1"/>
            <p:custDataLst>
              <p:tags r:id="rId2"/>
            </p:custDataLst>
          </p:nvPr>
        </p:nvSpPr>
        <p:spPr/>
        <p:txBody>
          <a:bodyPr>
            <a:normAutofit/>
          </a:bodyPr>
          <a:p>
            <a:pPr marL="0" indent="0">
              <a:buNone/>
            </a:pPr>
            <a:r>
              <a:rPr lang="en-US" altLang="en-US"/>
              <a:t>In Information Retrieval, a ranking system is used to arrange search results in order of relevance to a user’s query. After the system retrieves a set of matching documents, it evaluates and ranks them so that the most useful and relevant information appears first.</a:t>
            </a:r>
            <a:endParaRPr lang="en-US" altLang="en-US"/>
          </a:p>
          <a:p>
            <a:pPr marL="0" indent="0">
              <a:buNone/>
            </a:pPr>
            <a:endParaRPr lang="en-US" altLang="en-US"/>
          </a:p>
          <a:p>
            <a:pPr marL="0" indent="0">
              <a:buNone/>
            </a:pPr>
            <a:r>
              <a:rPr lang="en-US" altLang="en-US"/>
              <a:t>The ranking is based on different factors such as keyword matching, frequency of terms, document quality, and sometimes user behavior data. The goal is to ensure that users can quickly find the most accurate and helpful results without having to manually search through all documents.</a:t>
            </a:r>
            <a:endParaRPr lang="en-US" altLang="en-US"/>
          </a:p>
          <a:p>
            <a:pPr marL="0" indent="0">
              <a:buNone/>
            </a:pPr>
            <a:endParaRPr lang="en-US" altLang="en-US"/>
          </a:p>
          <a:p>
            <a:pPr marL="0" indent="0">
              <a:buNone/>
            </a:pPr>
            <a:r>
              <a:rPr lang="en-US" altLang="en-US"/>
              <a:t>A good ranking system improves the efficiency of search engines and enhances user experience by saving time and providing better-quality results at the top.</a:t>
            </a:r>
            <a:endParaRPr lang="en-US" altLang="en-US"/>
          </a:p>
          <a:p>
            <a:endParaRPr lang="en-US"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3140075" y="1433195"/>
            <a:ext cx="4704080" cy="4399915"/>
          </a:xfrm>
          <a:prstGeom prst="rect">
            <a:avLst/>
          </a:prstGeom>
        </p:spPr>
      </p:pic>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974850" y="1037590"/>
            <a:ext cx="6756400" cy="4151630"/>
          </a:xfrm>
          <a:prstGeom prst="rect">
            <a:avLst/>
          </a:prstGeom>
        </p:spPr>
      </p:pic>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NLP &amp; Text Processing</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Topics~</a:t>
            </a:r>
            <a:br>
              <a:rPr lang="en-IN" altLang="en-US" sz="2800"/>
            </a:br>
            <a:r>
              <a:rPr lang="en-IN" altLang="en-US" sz="2400"/>
              <a:t>1. </a:t>
            </a:r>
            <a:r>
              <a:rPr lang="en-US" altLang="en-US" sz="2400"/>
              <a:t>Tokenization </a:t>
            </a:r>
            <a:br>
              <a:rPr lang="en-US" altLang="en-US" sz="2400"/>
            </a:br>
            <a:r>
              <a:rPr lang="en-IN" altLang="en-US" sz="2400"/>
              <a:t>2. </a:t>
            </a:r>
            <a:r>
              <a:rPr lang="en-US" altLang="en-US" sz="2400"/>
              <a:t>Lemmatization</a:t>
            </a:r>
            <a:br>
              <a:rPr lang="en-US" altLang="en-US" sz="2400"/>
            </a:br>
            <a:r>
              <a:rPr lang="en-IN" altLang="en-US" sz="2400"/>
              <a:t>3. </a:t>
            </a:r>
            <a:r>
              <a:rPr lang="en-US" altLang="en-US" sz="2400"/>
              <a:t>Stop-word Removal</a:t>
            </a:r>
            <a:endParaRPr lang="en-US" altLang="en-US" sz="2400"/>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2974975" y="1425575"/>
            <a:ext cx="5861050" cy="3625850"/>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2701290" y="381635"/>
            <a:ext cx="6282690" cy="5454015"/>
          </a:xfrm>
          <a:prstGeom prst="rect">
            <a:avLst/>
          </a:prstGeom>
        </p:spPr>
      </p:pic>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Tokenization</a:t>
            </a:r>
            <a:endParaRPr lang="en-IN" altLang="en-US"/>
          </a:p>
        </p:txBody>
      </p:sp>
      <p:sp>
        <p:nvSpPr>
          <p:cNvPr id="3" name="Content Placeholder 2"/>
          <p:cNvSpPr>
            <a:spLocks noGrp="1"/>
          </p:cNvSpPr>
          <p:nvPr>
            <p:ph idx="1"/>
            <p:custDataLst>
              <p:tags r:id="rId2"/>
            </p:custDataLst>
          </p:nvPr>
        </p:nvSpPr>
        <p:spPr/>
        <p:txBody>
          <a:bodyPr>
            <a:normAutofit lnSpcReduction="10000"/>
          </a:bodyPr>
          <a:p>
            <a:pPr marL="0" indent="0">
              <a:buNone/>
            </a:pPr>
            <a:endParaRPr lang="en-US" altLang="en-US"/>
          </a:p>
          <a:p>
            <a:pPr marL="0" indent="0">
              <a:buNone/>
            </a:pPr>
            <a:r>
              <a:rPr lang="en-US" altLang="en-US"/>
              <a:t>Tokenization is the process of breaking down a text into smaller units called tokens. These tokens can be words, phrases, or sentences depending on the requirement of the system.</a:t>
            </a:r>
            <a:endParaRPr lang="en-US" altLang="en-US"/>
          </a:p>
          <a:p>
            <a:endParaRPr lang="en-US" altLang="en-US"/>
          </a:p>
          <a:p>
            <a:pPr marL="0" indent="0">
              <a:buNone/>
            </a:pPr>
            <a:r>
              <a:rPr lang="en-US" altLang="en-US"/>
              <a:t>For example, the sentence “AI is fun” can be split into tokens: “AI”, “is”, “fun”. This helps the system understand and process text more effectively.</a:t>
            </a:r>
            <a:endParaRPr lang="en-US" altLang="en-US"/>
          </a:p>
          <a:p>
            <a:endParaRPr lang="en-US" altLang="en-US"/>
          </a:p>
          <a:p>
            <a:pPr marL="0" indent="0">
              <a:buNone/>
            </a:pPr>
            <a:r>
              <a:rPr lang="en-US" altLang="en-US"/>
              <a:t>Tokenization is the first step in many natural language processing tasks because it converts raw text into manageable pieces for analysis.</a:t>
            </a:r>
            <a:endParaRPr lang="en-US" altLang="en-US"/>
          </a:p>
          <a:p>
            <a:endParaRPr lang="en-US" altLang="en-US"/>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460500" y="1527175"/>
            <a:ext cx="8890000" cy="3422650"/>
          </a:xfrm>
          <a:prstGeom prst="rect">
            <a:avLst/>
          </a:prstGeom>
        </p:spPr>
      </p:pic>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Lemmatization</a:t>
            </a:r>
            <a:endParaRPr lang="en-IN" altLang="en-US"/>
          </a:p>
        </p:txBody>
      </p:sp>
      <p:sp>
        <p:nvSpPr>
          <p:cNvPr id="3" name="Content Placeholder 2"/>
          <p:cNvSpPr>
            <a:spLocks noGrp="1"/>
          </p:cNvSpPr>
          <p:nvPr>
            <p:ph idx="1"/>
            <p:custDataLst>
              <p:tags r:id="rId2"/>
            </p:custDataLst>
          </p:nvPr>
        </p:nvSpPr>
        <p:spPr/>
        <p:txBody>
          <a:bodyPr/>
          <a:p>
            <a:pPr marL="0" indent="0">
              <a:buNone/>
            </a:pPr>
            <a:r>
              <a:rPr lang="en-US" altLang="en-US"/>
              <a:t>Lemmatization is the process of converting words into their base or dictionary form, known as the lemma. It considers the meaning of the word and the context in which it is used.</a:t>
            </a:r>
            <a:endParaRPr lang="en-US" altLang="en-US"/>
          </a:p>
          <a:p>
            <a:endParaRPr lang="en-US" altLang="en-US"/>
          </a:p>
          <a:p>
            <a:pPr marL="0" indent="0">
              <a:buNone/>
            </a:pPr>
            <a:r>
              <a:rPr lang="en-US" altLang="en-US"/>
              <a:t>For example, words like “running”, “ran”, and “runs” are converted to “run”.</a:t>
            </a:r>
            <a:endParaRPr lang="en-US" altLang="en-US"/>
          </a:p>
          <a:p>
            <a:endParaRPr lang="en-US" altLang="en-US"/>
          </a:p>
          <a:p>
            <a:pPr marL="0" indent="0">
              <a:buNone/>
            </a:pPr>
            <a:r>
              <a:rPr lang="en-US" altLang="en-US"/>
              <a:t>This helps the system treat different forms of a word as a single meaningful unit, improving accuracy in text analysis and search results.</a:t>
            </a:r>
            <a:endParaRPr lang="en-US" altLang="en-US"/>
          </a:p>
          <a:p>
            <a:endParaRPr lang="en-US" altLang="en-US"/>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2651125" y="1431925"/>
            <a:ext cx="6508750" cy="3613150"/>
          </a:xfrm>
          <a:prstGeom prst="rect">
            <a:avLst/>
          </a:prstGeom>
        </p:spPr>
      </p:pic>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2031365" y="1768475"/>
            <a:ext cx="6988175" cy="3728085"/>
          </a:xfrm>
          <a:prstGeom prst="rect">
            <a:avLst/>
          </a:prstGeom>
        </p:spPr>
      </p:pic>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Stop-word removal</a:t>
            </a:r>
            <a:endParaRPr lang="en-IN" altLang="en-US"/>
          </a:p>
        </p:txBody>
      </p:sp>
      <p:sp>
        <p:nvSpPr>
          <p:cNvPr id="3" name="Content Placeholder 2"/>
          <p:cNvSpPr>
            <a:spLocks noGrp="1"/>
          </p:cNvSpPr>
          <p:nvPr>
            <p:ph idx="1"/>
            <p:custDataLst>
              <p:tags r:id="rId2"/>
            </p:custDataLst>
          </p:nvPr>
        </p:nvSpPr>
        <p:spPr/>
        <p:txBody>
          <a:bodyPr/>
          <a:p>
            <a:pPr marL="0" indent="0">
              <a:buNone/>
            </a:pPr>
            <a:r>
              <a:rPr lang="en-US" altLang="en-US"/>
              <a:t>Stop-word removal is the process of removing common words from text that do not carry significant meaning. These words include “is”, “the”, “and”, “a”, and “in”.</a:t>
            </a:r>
            <a:endParaRPr lang="en-US" altLang="en-US"/>
          </a:p>
          <a:p>
            <a:endParaRPr lang="en-US" altLang="en-US"/>
          </a:p>
          <a:p>
            <a:pPr marL="0" indent="0">
              <a:buNone/>
            </a:pPr>
            <a:r>
              <a:rPr lang="en-US" altLang="en-US"/>
              <a:t>For example, in the sentence “The AI is very powerful”, the words “the” and “is” can be removed.</a:t>
            </a:r>
            <a:endParaRPr lang="en-US" altLang="en-US"/>
          </a:p>
          <a:p>
            <a:endParaRPr lang="en-US" altLang="en-US"/>
          </a:p>
          <a:p>
            <a:pPr marL="0" indent="0">
              <a:buNone/>
            </a:pPr>
            <a:r>
              <a:rPr lang="en-US" altLang="en-US"/>
              <a:t>This step helps reduce noise in data and allows the system to focus on important words that carry actual meaning.</a:t>
            </a:r>
            <a:endParaRPr lang="en-US" altLang="en-US"/>
          </a:p>
          <a:p>
            <a:endParaRPr lang="en-US"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TF-IDF &amp; BM25 Ranking</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Topics~</a:t>
            </a:r>
            <a:br>
              <a:rPr lang="en-IN" altLang="en-US" sz="2800"/>
            </a:br>
            <a:r>
              <a:rPr lang="en-IN" altLang="en-US" sz="2400"/>
              <a:t>1. </a:t>
            </a:r>
            <a:r>
              <a:rPr lang="en-US" altLang="en-US" sz="2400"/>
              <a:t>Lexical Search </a:t>
            </a:r>
            <a:br>
              <a:rPr lang="en-US" altLang="en-US" sz="2400"/>
            </a:br>
            <a:r>
              <a:rPr lang="en-IN" altLang="en-US" sz="2400"/>
              <a:t>2. </a:t>
            </a:r>
            <a:r>
              <a:rPr lang="en-US" altLang="en-US" sz="2400"/>
              <a:t>Query Optimization</a:t>
            </a:r>
            <a:endParaRPr lang="en-US" altLang="en-US" sz="2400"/>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Lexical search</a:t>
            </a:r>
            <a:endParaRPr lang="en-IN" altLang="en-US"/>
          </a:p>
        </p:txBody>
      </p:sp>
      <p:sp>
        <p:nvSpPr>
          <p:cNvPr id="3" name="Content Placeholder 2"/>
          <p:cNvSpPr>
            <a:spLocks noGrp="1"/>
          </p:cNvSpPr>
          <p:nvPr>
            <p:ph idx="1"/>
            <p:custDataLst>
              <p:tags r:id="rId2"/>
            </p:custDataLst>
          </p:nvPr>
        </p:nvSpPr>
        <p:spPr/>
        <p:txBody>
          <a:bodyPr>
            <a:normAutofit lnSpcReduction="10000"/>
          </a:bodyPr>
          <a:p>
            <a:pPr marL="0" indent="0">
              <a:buNone/>
            </a:pPr>
            <a:r>
              <a:rPr lang="en-US" altLang="en-US"/>
              <a:t>Lexical search is a method of searching documents based on exact word matching between the user’s query and the content of documents.</a:t>
            </a:r>
            <a:endParaRPr lang="en-US" altLang="en-US"/>
          </a:p>
          <a:p>
            <a:endParaRPr lang="en-US" altLang="en-US"/>
          </a:p>
          <a:p>
            <a:pPr marL="0" indent="0">
              <a:buNone/>
            </a:pPr>
            <a:r>
              <a:rPr lang="en-US" altLang="en-US"/>
              <a:t>It does not understand meaning or context but focuses on matching keywords directly. If the same words appear in both the query and the document, the document is considered relevant.</a:t>
            </a:r>
            <a:endParaRPr lang="en-US" altLang="en-US"/>
          </a:p>
          <a:p>
            <a:endParaRPr lang="en-US" altLang="en-US"/>
          </a:p>
          <a:p>
            <a:pPr marL="0" indent="0">
              <a:buNone/>
            </a:pPr>
            <a:r>
              <a:rPr lang="en-US" altLang="en-US"/>
              <a:t>This method is fast and commonly used in traditional search systems, but it may miss results where different words are used to express the same meaning.</a:t>
            </a:r>
            <a:endParaRPr lang="en-US" altLang="en-US"/>
          </a:p>
          <a:p>
            <a:endParaRPr lang="en-US" altLang="en-US"/>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Query optimization</a:t>
            </a:r>
            <a:endParaRPr lang="en-IN" altLang="en-US"/>
          </a:p>
        </p:txBody>
      </p:sp>
      <p:sp>
        <p:nvSpPr>
          <p:cNvPr id="3" name="Content Placeholder 2"/>
          <p:cNvSpPr>
            <a:spLocks noGrp="1"/>
          </p:cNvSpPr>
          <p:nvPr>
            <p:ph idx="1"/>
            <p:custDataLst>
              <p:tags r:id="rId2"/>
            </p:custDataLst>
          </p:nvPr>
        </p:nvSpPr>
        <p:spPr/>
        <p:txBody>
          <a:bodyPr/>
          <a:p>
            <a:pPr marL="0" indent="0">
              <a:buNone/>
            </a:pPr>
            <a:r>
              <a:rPr lang="en-US" altLang="en-US"/>
              <a:t>Query Optimization</a:t>
            </a:r>
            <a:endParaRPr lang="en-US" altLang="en-US"/>
          </a:p>
          <a:p>
            <a:endParaRPr lang="en-US" altLang="en-US"/>
          </a:p>
          <a:p>
            <a:pPr marL="0" indent="0">
              <a:buNone/>
            </a:pPr>
            <a:r>
              <a:rPr lang="en-US" altLang="en-US"/>
              <a:t>Query optimization is the process of improving a user’s search query to get better and more relevant results from a system.</a:t>
            </a:r>
            <a:endParaRPr lang="en-US" altLang="en-US"/>
          </a:p>
          <a:p>
            <a:endParaRPr lang="en-US" altLang="en-US"/>
          </a:p>
          <a:p>
            <a:pPr marL="0" indent="0">
              <a:buNone/>
            </a:pPr>
            <a:r>
              <a:rPr lang="en-US" altLang="en-US"/>
              <a:t>It involves techniques like correcting spelling mistakes, expanding queries with similar words, or rephrasing the input to match better with available documents.</a:t>
            </a:r>
            <a:endParaRPr lang="en-US" altLang="en-US"/>
          </a:p>
          <a:p>
            <a:endParaRPr lang="en-US" altLang="en-US"/>
          </a:p>
          <a:p>
            <a:pPr marL="0" indent="0">
              <a:buNone/>
            </a:pPr>
            <a:r>
              <a:rPr lang="en-US" altLang="en-US"/>
              <a:t>The goal of query optimization is to increase the accuracy and efficiency of search results while reducing irrelevant outputs.</a:t>
            </a:r>
            <a:endParaRPr lang="en-US" altLang="en-US"/>
          </a:p>
          <a:p>
            <a:endParaRPr lang="en-US" altLang="en-US"/>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Elasticsearch &amp; Azure AI Search</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Topics~</a:t>
            </a:r>
            <a:br>
              <a:rPr lang="en-IN" altLang="en-US" sz="2800"/>
            </a:br>
            <a:r>
              <a:rPr lang="en-IN" altLang="en-US" sz="2400"/>
              <a:t>1. </a:t>
            </a:r>
            <a:r>
              <a:rPr lang="en-US" altLang="en-US" sz="2400"/>
              <a:t>Indexing</a:t>
            </a:r>
            <a:br>
              <a:rPr lang="en-US" altLang="en-US" sz="2400"/>
            </a:br>
            <a:r>
              <a:rPr lang="en-IN" altLang="en-US" sz="2400"/>
              <a:t>2. </a:t>
            </a:r>
            <a:r>
              <a:rPr lang="en-US" altLang="en-US" sz="2400"/>
              <a:t>Query DSL</a:t>
            </a:r>
            <a:br>
              <a:rPr lang="en-US" altLang="en-US" sz="2400"/>
            </a:br>
            <a:r>
              <a:rPr lang="en-IN" altLang="en-US" sz="2400"/>
              <a:t>3. </a:t>
            </a:r>
            <a:r>
              <a:rPr lang="en-US" altLang="en-US" sz="2400"/>
              <a:t>Hybrid Search</a:t>
            </a:r>
            <a:endParaRPr lang="en-US" altLang="en-US" sz="2400"/>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Indexing</a:t>
            </a:r>
            <a:endParaRPr lang="en-IN" altLang="en-US"/>
          </a:p>
        </p:txBody>
      </p:sp>
      <p:sp>
        <p:nvSpPr>
          <p:cNvPr id="3" name="Content Placeholder 2"/>
          <p:cNvSpPr>
            <a:spLocks noGrp="1"/>
          </p:cNvSpPr>
          <p:nvPr>
            <p:ph idx="1"/>
            <p:custDataLst>
              <p:tags r:id="rId2"/>
            </p:custDataLst>
          </p:nvPr>
        </p:nvSpPr>
        <p:spPr/>
        <p:txBody>
          <a:bodyPr>
            <a:normAutofit lnSpcReduction="10000"/>
          </a:bodyPr>
          <a:p>
            <a:pPr marL="0" indent="0">
              <a:buNone/>
            </a:pPr>
            <a:r>
              <a:rPr lang="en-US" altLang="en-US"/>
              <a:t>Indexing is the process of organizing and storing data in a structured format so that it can be searched efficiently. In search systems, documents are analyzed and key terms are stored in an index.</a:t>
            </a:r>
            <a:endParaRPr lang="en-US" altLang="en-US"/>
          </a:p>
          <a:p>
            <a:endParaRPr lang="en-US" altLang="en-US"/>
          </a:p>
          <a:p>
            <a:pPr marL="0" indent="0">
              <a:buNone/>
            </a:pPr>
            <a:r>
              <a:rPr lang="en-US" altLang="en-US"/>
              <a:t>This index acts like a reference system, allowing the search engine to quickly locate relevant documents without scanning the entire dataset.</a:t>
            </a:r>
            <a:endParaRPr lang="en-US" altLang="en-US"/>
          </a:p>
          <a:p>
            <a:endParaRPr lang="en-US" altLang="en-US"/>
          </a:p>
          <a:p>
            <a:pPr marL="0" indent="0">
              <a:buNone/>
            </a:pPr>
            <a:r>
              <a:rPr lang="en-US" altLang="en-US"/>
              <a:t>Indexing improves search speed and makes retrieval of information more efficient, especially in large datasets.</a:t>
            </a:r>
            <a:endParaRPr lang="en-US" altLang="en-US"/>
          </a:p>
          <a:p>
            <a:endParaRPr lang="en-US" altLang="en-US"/>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Query DSL</a:t>
            </a:r>
            <a:endParaRPr lang="en-IN" altLang="en-US"/>
          </a:p>
        </p:txBody>
      </p:sp>
      <p:sp>
        <p:nvSpPr>
          <p:cNvPr id="3" name="Content Placeholder 2"/>
          <p:cNvSpPr>
            <a:spLocks noGrp="1"/>
          </p:cNvSpPr>
          <p:nvPr>
            <p:ph idx="1"/>
            <p:custDataLst>
              <p:tags r:id="rId2"/>
            </p:custDataLst>
          </p:nvPr>
        </p:nvSpPr>
        <p:spPr/>
        <p:txBody>
          <a:bodyPr>
            <a:normAutofit lnSpcReduction="20000"/>
          </a:bodyPr>
          <a:p>
            <a:pPr marL="0" indent="0">
              <a:buNone/>
            </a:pPr>
            <a:r>
              <a:rPr lang="en-US" altLang="en-US"/>
              <a:t>Query DSL (Domain Specific Language) is a structured way of writing queries in search systems like Elasticsearch. It allows users to define precise search conditions using a flexible and powerful syntax.</a:t>
            </a:r>
            <a:endParaRPr lang="en-US" altLang="en-US"/>
          </a:p>
          <a:p>
            <a:endParaRPr lang="en-US" altLang="en-US"/>
          </a:p>
          <a:p>
            <a:pPr marL="0" indent="0">
              <a:buNone/>
            </a:pPr>
            <a:r>
              <a:rPr lang="en-US" altLang="en-US"/>
              <a:t>With Query DSL, users can filter results, match specific fields, rank relevance, and combine multiple conditions in a single query.</a:t>
            </a:r>
            <a:endParaRPr lang="en-US" altLang="en-US"/>
          </a:p>
          <a:p>
            <a:endParaRPr lang="en-US" altLang="en-US"/>
          </a:p>
          <a:p>
            <a:pPr marL="0" indent="0">
              <a:buNone/>
            </a:pPr>
            <a:r>
              <a:rPr lang="en-US" altLang="en-US"/>
              <a:t>It provides more control and accuracy compared to simple keyword searching, making it useful for advanced search applications.</a:t>
            </a:r>
            <a:endParaRPr lang="en-US" altLang="en-US"/>
          </a:p>
          <a:p>
            <a:endParaRPr lang="en-US" altLang="en-US"/>
          </a:p>
        </p:txBody>
      </p:sp>
    </p:spTree>
    <p:custDataLst>
      <p:tags r:id="rId3"/>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Hybrid search</a:t>
            </a:r>
            <a:endParaRPr lang="en-IN" altLang="en-US"/>
          </a:p>
        </p:txBody>
      </p:sp>
      <p:sp>
        <p:nvSpPr>
          <p:cNvPr id="3" name="Content Placeholder 2"/>
          <p:cNvSpPr>
            <a:spLocks noGrp="1"/>
          </p:cNvSpPr>
          <p:nvPr>
            <p:ph idx="1"/>
            <p:custDataLst>
              <p:tags r:id="rId2"/>
            </p:custDataLst>
          </p:nvPr>
        </p:nvSpPr>
        <p:spPr/>
        <p:txBody>
          <a:bodyPr>
            <a:normAutofit lnSpcReduction="10000"/>
          </a:bodyPr>
          <a:p>
            <a:pPr marL="0" indent="0">
              <a:buNone/>
            </a:pPr>
            <a:r>
              <a:rPr lang="en-US" altLang="en-US"/>
              <a:t>Hybrid search is a method that combines traditional keyword-based search with modern semantic search techniques. It uses both exact matching (lexical search) and meaning-based understanding to improve search results.</a:t>
            </a:r>
            <a:endParaRPr lang="en-US" altLang="en-US"/>
          </a:p>
          <a:p>
            <a:endParaRPr lang="en-US" altLang="en-US"/>
          </a:p>
          <a:p>
            <a:pPr marL="0" indent="0">
              <a:buNone/>
            </a:pPr>
            <a:r>
              <a:rPr lang="en-US" altLang="en-US"/>
              <a:t>This approach helps retrieve documents that match keywords as well as those that are contextually relevant, even if they use different words.</a:t>
            </a:r>
            <a:endParaRPr lang="en-US" altLang="en-US"/>
          </a:p>
          <a:p>
            <a:endParaRPr lang="en-US" altLang="en-US"/>
          </a:p>
          <a:p>
            <a:pPr marL="0" indent="0">
              <a:buNone/>
            </a:pPr>
            <a:r>
              <a:rPr lang="en-US" altLang="en-US"/>
              <a:t>Hybrid search improves accuracy, relevance, and user experience by balancing precision and meaning-based understanding.</a:t>
            </a:r>
            <a:endParaRPr lang="en-US" altLang="en-US"/>
          </a:p>
          <a:p>
            <a:endParaRPr lang="en-US" altLang="en-US"/>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558290" y="422275"/>
            <a:ext cx="8165465" cy="6067425"/>
          </a:xfrm>
          <a:prstGeom prst="rect">
            <a:avLst/>
          </a:prstGeom>
        </p:spPr>
      </p:pic>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pic>
        <p:nvPicPr>
          <p:cNvPr id="4" name="Picture 3"/>
          <p:cNvPicPr/>
          <p:nvPr/>
        </p:nvPicPr>
        <p:blipFill>
          <a:blip r:embed="rId2"/>
          <a:stretch>
            <a:fillRect/>
          </a:stretch>
        </p:blipFill>
        <p:spPr>
          <a:xfrm>
            <a:off x="-57150" y="-114300"/>
            <a:ext cx="11925300" cy="6705600"/>
          </a:xfrm>
          <a:prstGeom prst="rect">
            <a:avLst/>
          </a:prstGeom>
        </p:spPr>
      </p:pic>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460500" y="1038225"/>
            <a:ext cx="8890000" cy="4400550"/>
          </a:xfrm>
          <a:prstGeom prst="rect">
            <a:avLst/>
          </a:prstGeom>
        </p:spPr>
      </p:pic>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144905" y="1066800"/>
            <a:ext cx="8658860" cy="4993005"/>
          </a:xfrm>
          <a:prstGeom prst="rect">
            <a:avLst/>
          </a:prstGeom>
        </p:spPr>
      </p:pic>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Embeddings &amp; Semantic Search</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a:t>
            </a:r>
            <a:br>
              <a:rPr lang="en-IN" altLang="en-US" sz="2800"/>
            </a:br>
            <a:r>
              <a:rPr lang="en-IN" altLang="en-US" sz="2800"/>
              <a:t>1. </a:t>
            </a:r>
            <a:r>
              <a:rPr lang="en-US" altLang="en-US" sz="2800"/>
              <a:t>Vector Embeddings</a:t>
            </a:r>
            <a:br>
              <a:rPr lang="en-US" altLang="en-US" sz="2800"/>
            </a:br>
            <a:r>
              <a:rPr lang="en-IN" altLang="en-US" sz="2800"/>
              <a:t>2. </a:t>
            </a:r>
            <a:r>
              <a:rPr lang="en-US" altLang="en-US" sz="2800"/>
              <a:t>Similarity Search</a:t>
            </a:r>
            <a:endParaRPr lang="en-US" altLang="en-US" sz="2800"/>
          </a:p>
        </p:txBody>
      </p:sp>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pPr marL="0" indent="0">
              <a:buNone/>
            </a:pPr>
            <a:endParaRPr lang="en-US"/>
          </a:p>
        </p:txBody>
      </p:sp>
      <p:pic>
        <p:nvPicPr>
          <p:cNvPr id="4" name="Picture 3"/>
          <p:cNvPicPr/>
          <p:nvPr/>
        </p:nvPicPr>
        <p:blipFill>
          <a:blip r:embed="rId3"/>
          <a:stretch>
            <a:fillRect/>
          </a:stretch>
        </p:blipFill>
        <p:spPr>
          <a:xfrm>
            <a:off x="266700" y="421640"/>
            <a:ext cx="11810365" cy="6166485"/>
          </a:xfrm>
          <a:prstGeom prst="rect">
            <a:avLst/>
          </a:prstGeom>
        </p:spPr>
      </p:pic>
    </p:spTree>
    <p:custDataLst>
      <p:tags r:id="rId4"/>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IN" altLang="en-US"/>
              <a:t>Sentence Transformer Model</a:t>
            </a:r>
            <a:endParaRPr lang="en-IN" altLang="en-US"/>
          </a:p>
        </p:txBody>
      </p:sp>
      <p:pic>
        <p:nvPicPr>
          <p:cNvPr id="4" name="Picture 3"/>
          <p:cNvPicPr/>
          <p:nvPr/>
        </p:nvPicPr>
        <p:blipFill>
          <a:blip r:embed="rId2"/>
          <a:stretch>
            <a:fillRect/>
          </a:stretch>
        </p:blipFill>
        <p:spPr>
          <a:xfrm>
            <a:off x="1130935" y="1663065"/>
            <a:ext cx="9271000" cy="4343400"/>
          </a:xfrm>
          <a:prstGeom prst="rect">
            <a:avLst/>
          </a:prstGeom>
        </p:spPr>
      </p:pic>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Vector embeddings</a:t>
            </a:r>
            <a:endParaRPr lang="en-IN" altLang="en-US"/>
          </a:p>
        </p:txBody>
      </p:sp>
      <p:sp>
        <p:nvSpPr>
          <p:cNvPr id="3" name="Content Placeholder 2"/>
          <p:cNvSpPr>
            <a:spLocks noGrp="1"/>
          </p:cNvSpPr>
          <p:nvPr>
            <p:ph idx="1"/>
            <p:custDataLst>
              <p:tags r:id="rId2"/>
            </p:custDataLst>
          </p:nvPr>
        </p:nvSpPr>
        <p:spPr/>
        <p:txBody>
          <a:bodyPr>
            <a:normAutofit lnSpcReduction="10000"/>
          </a:bodyPr>
          <a:p>
            <a:pPr marL="0" indent="0">
              <a:buNone/>
            </a:pPr>
            <a:r>
              <a:rPr lang="en-US" altLang="en-US"/>
              <a:t>Vector embeddings are numerical representations of words, sentences, or documents in a multi-dimensional space. These vectors capture the meaning and context of the text so that similar ideas are placed closer together.</a:t>
            </a:r>
            <a:endParaRPr lang="en-US" altLang="en-US"/>
          </a:p>
          <a:p>
            <a:endParaRPr lang="en-US" altLang="en-US"/>
          </a:p>
          <a:p>
            <a:pPr marL="0" indent="0">
              <a:buNone/>
            </a:pPr>
            <a:r>
              <a:rPr lang="en-US" altLang="en-US"/>
              <a:t>For example, words like “car” and “automobile” will have similar vector representations even if they are different in spelling.</a:t>
            </a:r>
            <a:endParaRPr lang="en-US" altLang="en-US"/>
          </a:p>
          <a:p>
            <a:endParaRPr lang="en-US" altLang="en-US"/>
          </a:p>
          <a:p>
            <a:pPr marL="0" indent="0">
              <a:buNone/>
            </a:pPr>
            <a:r>
              <a:rPr lang="en-US" altLang="en-US"/>
              <a:t>Embeddings allow machines to understand semantic relationships between words and improve search accuracy.</a:t>
            </a:r>
            <a:endParaRPr lang="en-US" altLang="en-US"/>
          </a:p>
          <a:p>
            <a:endParaRPr lang="en-US" altLang="en-US"/>
          </a:p>
        </p:txBody>
      </p:sp>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IN" altLang="en-US"/>
              <a:t>Flow diagram</a:t>
            </a:r>
            <a:endParaRPr lang="en-IN" altLang="en-US"/>
          </a:p>
        </p:txBody>
      </p:sp>
      <p:pic>
        <p:nvPicPr>
          <p:cNvPr id="4" name="Picture 3"/>
          <p:cNvPicPr/>
          <p:nvPr/>
        </p:nvPicPr>
        <p:blipFill>
          <a:blip r:embed="rId2"/>
          <a:stretch>
            <a:fillRect/>
          </a:stretch>
        </p:blipFill>
        <p:spPr>
          <a:xfrm>
            <a:off x="1737360" y="1499870"/>
            <a:ext cx="8039735" cy="4147820"/>
          </a:xfrm>
          <a:prstGeom prst="rect">
            <a:avLst/>
          </a:prstGeom>
        </p:spPr>
      </p:pic>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Similarity search</a:t>
            </a:r>
            <a:endParaRPr lang="en-IN" altLang="en-US"/>
          </a:p>
        </p:txBody>
      </p:sp>
      <p:sp>
        <p:nvSpPr>
          <p:cNvPr id="3" name="Content Placeholder 2"/>
          <p:cNvSpPr>
            <a:spLocks noGrp="1"/>
          </p:cNvSpPr>
          <p:nvPr>
            <p:ph idx="1"/>
            <p:custDataLst>
              <p:tags r:id="rId2"/>
            </p:custDataLst>
          </p:nvPr>
        </p:nvSpPr>
        <p:spPr/>
        <p:txBody>
          <a:bodyPr/>
          <a:p>
            <a:pPr marL="0" indent="0">
              <a:buNone/>
            </a:pPr>
            <a:r>
              <a:rPr lang="en-US" altLang="en-US"/>
              <a:t>Similarity search is the process of finding items that are closest in meaning to a given query using vector embeddings.</a:t>
            </a:r>
            <a:endParaRPr lang="en-US" altLang="en-US"/>
          </a:p>
          <a:p>
            <a:endParaRPr lang="en-US" altLang="en-US"/>
          </a:p>
          <a:p>
            <a:pPr marL="0" indent="0">
              <a:buNone/>
            </a:pPr>
            <a:r>
              <a:rPr lang="en-US" altLang="en-US"/>
              <a:t>Instead of matching exact words, it compares the distance between vectors in a high-dimensional space. The closer the vectors, the more similar the meaning.</a:t>
            </a:r>
            <a:endParaRPr lang="en-US" altLang="en-US"/>
          </a:p>
          <a:p>
            <a:endParaRPr lang="en-US" altLang="en-US"/>
          </a:p>
          <a:p>
            <a:pPr marL="0" indent="0">
              <a:buNone/>
            </a:pPr>
            <a:r>
              <a:rPr lang="en-US" altLang="en-US"/>
              <a:t>This method helps retrieve relevant results even when different words or phrases are used, improving the quality of search in modern AI systems.</a:t>
            </a:r>
            <a:endParaRPr lang="en-US" altLang="en-US"/>
          </a:p>
          <a:p>
            <a:endParaRPr lang="en-US" altLang="en-US"/>
          </a:p>
        </p:txBody>
      </p:sp>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IN" altLang="en-US"/>
              <a:t>Semantic Search</a:t>
            </a:r>
            <a:endParaRPr lang="en-IN" altLang="en-US"/>
          </a:p>
        </p:txBody>
      </p:sp>
      <p:pic>
        <p:nvPicPr>
          <p:cNvPr id="4" name="Picture 3"/>
          <p:cNvPicPr/>
          <p:nvPr/>
        </p:nvPicPr>
        <p:blipFill>
          <a:blip r:embed="rId2"/>
          <a:stretch>
            <a:fillRect/>
          </a:stretch>
        </p:blipFill>
        <p:spPr>
          <a:xfrm>
            <a:off x="2556510" y="1968500"/>
            <a:ext cx="5888990" cy="3253105"/>
          </a:xfrm>
          <a:prstGeom prst="rect">
            <a:avLst/>
          </a:prstGeom>
        </p:spPr>
      </p:pic>
    </p:spTree>
    <p:custDataLst>
      <p:tags r:id="rId3"/>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Vector Databases</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400"/>
              <a:t>1. </a:t>
            </a:r>
            <a:r>
              <a:rPr lang="en-US" altLang="en-US" sz="2400"/>
              <a:t>ANN Search</a:t>
            </a:r>
            <a:br>
              <a:rPr lang="en-US" altLang="en-US" sz="2400"/>
            </a:br>
            <a:r>
              <a:rPr lang="en-IN" altLang="en-US" sz="2400"/>
              <a:t>2. </a:t>
            </a:r>
            <a:r>
              <a:rPr lang="en-US" altLang="en-US" sz="2400"/>
              <a:t>HNSW</a:t>
            </a:r>
            <a:br>
              <a:rPr lang="en-US" altLang="en-US" sz="2400"/>
            </a:br>
            <a:r>
              <a:rPr lang="en-IN" altLang="en-US" sz="2400"/>
              <a:t>3. </a:t>
            </a:r>
            <a:r>
              <a:rPr lang="en-US" altLang="en-US" sz="2400"/>
              <a:t>Pinecone</a:t>
            </a:r>
            <a:br>
              <a:rPr lang="en-US" altLang="en-US" sz="2400"/>
            </a:br>
            <a:r>
              <a:rPr lang="en-IN" altLang="en-US" sz="2400"/>
              <a:t>4. </a:t>
            </a:r>
            <a:r>
              <a:rPr lang="en-US" altLang="en-US" sz="2400"/>
              <a:t>Qdrant</a:t>
            </a:r>
            <a:endParaRPr lang="en-US" altLang="en-US" sz="2400"/>
          </a:p>
        </p:txBody>
      </p:sp>
    </p:spTree>
    <p:custDataLst>
      <p:tags r:id="rId3"/>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838200" y="695325"/>
            <a:ext cx="10347325" cy="5512435"/>
          </a:xfrm>
          <a:prstGeom prst="rect">
            <a:avLst/>
          </a:prstGeom>
        </p:spPr>
      </p:pic>
    </p:spTree>
    <p:custDataLst>
      <p:tags r:id="rId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pPr marL="0" indent="0">
              <a:buFont typeface="Arial" panose="020B0604020202020204" pitchFamily="34" charset="0"/>
            </a:pPr>
            <a:r>
              <a:rPr lang="en-IN" altLang="en-US"/>
              <a:t>ANN search (Approximate Nearest Neighbour)</a:t>
            </a:r>
            <a:endParaRPr lang="en-IN" altLang="en-US"/>
          </a:p>
        </p:txBody>
      </p:sp>
      <p:sp>
        <p:nvSpPr>
          <p:cNvPr id="3" name="Content Placeholder 2"/>
          <p:cNvSpPr>
            <a:spLocks noGrp="1"/>
          </p:cNvSpPr>
          <p:nvPr>
            <p:ph idx="1"/>
            <p:custDataLst>
              <p:tags r:id="rId2"/>
            </p:custDataLst>
          </p:nvPr>
        </p:nvSpPr>
        <p:spPr/>
        <p:txBody>
          <a:bodyPr/>
          <a:p>
            <a:pPr marL="0" indent="0">
              <a:buNone/>
            </a:pPr>
            <a:r>
              <a:rPr lang="en-US" altLang="en-US"/>
              <a:t>ANN Search is a technique used to quickly find data points that are closest to a given query vector in a large dataset.</a:t>
            </a:r>
            <a:endParaRPr lang="en-US" altLang="en-US"/>
          </a:p>
          <a:p>
            <a:endParaRPr lang="en-US" altLang="en-US"/>
          </a:p>
          <a:p>
            <a:pPr marL="0" indent="0">
              <a:buNone/>
            </a:pPr>
            <a:r>
              <a:rPr lang="en-US" altLang="en-US"/>
              <a:t>Instead of searching every possible item (which is slow), ANN finds approximate nearest matches, making the search much faster while maintaining high accuracy.</a:t>
            </a:r>
            <a:endParaRPr lang="en-US" altLang="en-US"/>
          </a:p>
          <a:p>
            <a:endParaRPr lang="en-US" altLang="en-US"/>
          </a:p>
          <a:p>
            <a:pPr marL="0" indent="0">
              <a:buNone/>
            </a:pPr>
            <a:r>
              <a:rPr lang="en-US" altLang="en-US"/>
              <a:t>It is widely used in vector databases to enable real-time search at scale.</a:t>
            </a:r>
            <a:endParaRPr lang="en-US" altLang="en-US"/>
          </a:p>
          <a:p>
            <a:endParaRPr lang="en-US" altLang="en-US"/>
          </a:p>
        </p:txBody>
      </p:sp>
    </p:spTree>
    <p:custDataLst>
      <p:tags r:id="rId3"/>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a:bodyPr>
          <a:p>
            <a:pPr marL="0" indent="0">
              <a:buFont typeface="Arial" panose="020B0604020202020204" pitchFamily="34" charset="0"/>
            </a:pPr>
            <a:r>
              <a:rPr lang="en-IN" altLang="en-US"/>
              <a:t>HNSW (Hierarchical Navigable Small World)</a:t>
            </a:r>
            <a:endParaRPr lang="en-IN" altLang="en-US"/>
          </a:p>
        </p:txBody>
      </p:sp>
      <p:sp>
        <p:nvSpPr>
          <p:cNvPr id="3" name="Content Placeholder 2"/>
          <p:cNvSpPr>
            <a:spLocks noGrp="1"/>
          </p:cNvSpPr>
          <p:nvPr>
            <p:ph idx="1"/>
            <p:custDataLst>
              <p:tags r:id="rId2"/>
            </p:custDataLst>
          </p:nvPr>
        </p:nvSpPr>
        <p:spPr/>
        <p:txBody>
          <a:bodyPr/>
          <a:p>
            <a:pPr marL="0" indent="0">
              <a:buNone/>
            </a:pPr>
            <a:r>
              <a:rPr lang="en-US" altLang="en-US">
                <a:sym typeface="+mn-ea"/>
              </a:rPr>
              <a:t>HNSW is an advanced algorithm used for Approximate Nearest Neighbour search in vector databases.</a:t>
            </a:r>
            <a:br>
              <a:rPr lang="en-US" altLang="en-US">
                <a:sym typeface="+mn-ea"/>
              </a:rPr>
            </a:br>
            <a:br>
              <a:rPr lang="en-US" altLang="en-US">
                <a:sym typeface="+mn-ea"/>
              </a:rPr>
            </a:br>
            <a:r>
              <a:rPr lang="en-US" altLang="en-US">
                <a:sym typeface="+mn-ea"/>
              </a:rPr>
              <a:t>It organizes data into a multi-layer graph structure, allowing efficient navigation through connections to find similar vectors quickly.</a:t>
            </a:r>
            <a:br>
              <a:rPr lang="en-US" altLang="en-US">
                <a:sym typeface="+mn-ea"/>
              </a:rPr>
            </a:br>
            <a:br>
              <a:rPr lang="en-US" altLang="en-US">
                <a:sym typeface="+mn-ea"/>
              </a:rPr>
            </a:br>
            <a:r>
              <a:rPr lang="en-US" altLang="en-US">
                <a:sym typeface="+mn-ea"/>
              </a:rPr>
              <a:t>HNSW is popular because it provides a strong balance between speed and accuracy in large-scale similarity search systems.</a:t>
            </a:r>
            <a:br>
              <a:rPr lang="en-US" altLang="en-US">
                <a:sym typeface="+mn-ea"/>
              </a:rPr>
            </a:br>
            <a:endParaRPr lang="en-US" altLang="en-US"/>
          </a:p>
          <a:p>
            <a:endParaRPr lang="en-US"/>
          </a:p>
        </p:txBody>
      </p:sp>
    </p:spTree>
    <p:custDataLst>
      <p:tags r:id="rId3"/>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Pinecone</a:t>
            </a:r>
            <a:endParaRPr lang="en-IN" altLang="en-US"/>
          </a:p>
        </p:txBody>
      </p:sp>
      <p:sp>
        <p:nvSpPr>
          <p:cNvPr id="3" name="Content Placeholder 2"/>
          <p:cNvSpPr>
            <a:spLocks noGrp="1"/>
          </p:cNvSpPr>
          <p:nvPr>
            <p:ph idx="1"/>
            <p:custDataLst>
              <p:tags r:id="rId2"/>
            </p:custDataLst>
          </p:nvPr>
        </p:nvSpPr>
        <p:spPr/>
        <p:txBody>
          <a:bodyPr>
            <a:normAutofit/>
          </a:bodyPr>
          <a:p>
            <a:pPr marL="0" indent="0">
              <a:buNone/>
            </a:pPr>
            <a:r>
              <a:rPr lang="en-US" altLang="en-US"/>
              <a:t>Pinecone is a fully managed vector database service designed for building and scaling AI-powered applications. It allows developers to store, index, and search vector embeddings without needing to manage infrastructure or complex backend systems.</a:t>
            </a:r>
            <a:endParaRPr lang="en-US" altLang="en-US"/>
          </a:p>
          <a:p>
            <a:endParaRPr lang="en-US" altLang="en-US"/>
          </a:p>
          <a:p>
            <a:pPr marL="0" indent="0">
              <a:buNone/>
            </a:pPr>
            <a:r>
              <a:rPr lang="en-US" altLang="en-US"/>
              <a:t>It is commonly used in applications such as semantic search, recommendation systems, and retrieval-augmented generation (RAG), where fast and accurate similarity search is required.</a:t>
            </a:r>
            <a:endParaRPr lang="en-US" altLang="en-US"/>
          </a:p>
          <a:p>
            <a:endParaRPr lang="en-US" altLang="en-US"/>
          </a:p>
          <a:p>
            <a:pPr marL="0" indent="0">
              <a:buNone/>
            </a:pPr>
            <a:r>
              <a:rPr lang="en-US" altLang="en-US"/>
              <a:t>Pinecone handles large-scale data efficiently by automatically managing indexing, updates, and query performance. This makes it a popular choice for production-level AI systems where speed, reliability, and scalability are important.</a:t>
            </a:r>
            <a:endParaRPr lang="en-US" altLang="en-US"/>
          </a:p>
          <a:p>
            <a:endParaRPr lang="en-US" altLang="en-US"/>
          </a:p>
        </p:txBody>
      </p:sp>
    </p:spTree>
    <p:custDataLst>
      <p:tags r:id="rId3"/>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Qdrant</a:t>
            </a:r>
            <a:endParaRPr lang="en-IN" altLang="en-US"/>
          </a:p>
        </p:txBody>
      </p:sp>
      <p:sp>
        <p:nvSpPr>
          <p:cNvPr id="3" name="Content Placeholder 2"/>
          <p:cNvSpPr>
            <a:spLocks noGrp="1"/>
          </p:cNvSpPr>
          <p:nvPr>
            <p:ph idx="1"/>
            <p:custDataLst>
              <p:tags r:id="rId2"/>
            </p:custDataLst>
          </p:nvPr>
        </p:nvSpPr>
        <p:spPr/>
        <p:txBody>
          <a:bodyPr>
            <a:normAutofit/>
          </a:bodyPr>
          <a:p>
            <a:pPr marL="0" indent="0">
              <a:buNone/>
            </a:pPr>
            <a:r>
              <a:rPr lang="en-US" altLang="en-US"/>
              <a:t>Qdrant is an open-source vector database built for storing, managing, and searching high-dimensional vector embeddings efficiently. It is designed to support AI applications that rely on semantic understanding and similarity search.</a:t>
            </a:r>
            <a:endParaRPr lang="en-US" altLang="en-US"/>
          </a:p>
          <a:p>
            <a:endParaRPr lang="en-US" altLang="en-US"/>
          </a:p>
          <a:p>
            <a:pPr marL="0" indent="0">
              <a:buNone/>
            </a:pPr>
            <a:r>
              <a:rPr lang="en-US" altLang="en-US"/>
              <a:t>One of its key features is advanced filtering, which allows users to combine vector similarity search with structured metadata filters. This makes it possible to perform more precise and context-aware searches.</a:t>
            </a:r>
            <a:endParaRPr lang="en-US" altLang="en-US"/>
          </a:p>
          <a:p>
            <a:endParaRPr lang="en-US" altLang="en-US"/>
          </a:p>
          <a:p>
            <a:pPr marL="0" indent="0">
              <a:buNone/>
            </a:pPr>
            <a:r>
              <a:rPr lang="en-US" altLang="en-US"/>
              <a:t>Qdrant is widely used in machine learning and generative AI systems, especially in use cases like recommendation engines, semantic search, and retrieval-augmented generation (RAG), where both speed and accuracy are essential.</a:t>
            </a:r>
            <a:endParaRPr lang="en-US" altLang="en-US"/>
          </a:p>
          <a:p>
            <a:endParaRPr lang="en-US" altLang="en-US"/>
          </a:p>
        </p:txBody>
      </p:sp>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Chunking &amp; Hybrid Retrieval</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Topics~</a:t>
            </a:r>
            <a:br>
              <a:rPr lang="en-IN" altLang="en-US" sz="2800"/>
            </a:br>
            <a:r>
              <a:rPr lang="en-IN" altLang="en-US" sz="2400"/>
              <a:t>1. </a:t>
            </a:r>
            <a:r>
              <a:rPr lang="en-US" altLang="en-US" sz="2400"/>
              <a:t>Semantic Chunking</a:t>
            </a:r>
            <a:br>
              <a:rPr lang="en-US" altLang="en-US" sz="2400"/>
            </a:br>
            <a:r>
              <a:rPr lang="en-IN" altLang="en-US" sz="2400"/>
              <a:t>2. </a:t>
            </a:r>
            <a:r>
              <a:rPr lang="en-US" altLang="en-US" sz="2400"/>
              <a:t>BM25 + Vector Search</a:t>
            </a:r>
            <a:endParaRPr lang="en-US" altLang="en-US" sz="2400"/>
          </a:p>
        </p:txBody>
      </p:sp>
    </p:spTree>
    <p:custDataLst>
      <p:tags r:id="rId3"/>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Semantic chunking</a:t>
            </a:r>
            <a:endParaRPr lang="en-IN" altLang="en-US"/>
          </a:p>
        </p:txBody>
      </p:sp>
      <p:sp>
        <p:nvSpPr>
          <p:cNvPr id="3" name="Content Placeholder 2"/>
          <p:cNvSpPr>
            <a:spLocks noGrp="1"/>
          </p:cNvSpPr>
          <p:nvPr>
            <p:ph idx="1"/>
            <p:custDataLst>
              <p:tags r:id="rId2"/>
            </p:custDataLst>
          </p:nvPr>
        </p:nvSpPr>
        <p:spPr/>
        <p:txBody>
          <a:bodyPr>
            <a:normAutofit lnSpcReduction="20000"/>
          </a:bodyPr>
          <a:p>
            <a:pPr marL="0" indent="0">
              <a:buNone/>
            </a:pPr>
            <a:r>
              <a:rPr lang="en-US" altLang="en-US"/>
              <a:t>Semantic chunking is the process of dividing large text into smaller sections based on meaning rather than fixed size. Each chunk represents a complete idea or meaningful context.</a:t>
            </a:r>
            <a:endParaRPr lang="en-US" altLang="en-US"/>
          </a:p>
          <a:p>
            <a:endParaRPr lang="en-US" altLang="en-US"/>
          </a:p>
          <a:p>
            <a:pPr marL="0" indent="0">
              <a:buNone/>
            </a:pPr>
            <a:r>
              <a:rPr lang="en-US" altLang="en-US"/>
              <a:t>This approach helps maintain context while splitting documents, so that important information is not broken in unnatural places. It improves the quality of search and retrieval in AI systems because each chunk is meaningful on its own.</a:t>
            </a:r>
            <a:endParaRPr lang="en-US" altLang="en-US"/>
          </a:p>
          <a:p>
            <a:endParaRPr lang="en-US" altLang="en-US"/>
          </a:p>
          <a:p>
            <a:pPr marL="0" indent="0">
              <a:buNone/>
            </a:pPr>
            <a:r>
              <a:rPr lang="en-US" altLang="en-US"/>
              <a:t>Semantic chunking is commonly used in systems like chatbots and retrieval-augmented generation (RAG) to ensure better understanding of long documents.</a:t>
            </a:r>
            <a:endParaRPr lang="en-US" altLang="en-US"/>
          </a:p>
          <a:p>
            <a:endParaRPr lang="en-US" altLang="en-US"/>
          </a:p>
        </p:txBody>
      </p:sp>
    </p:spTree>
    <p:custDataLst>
      <p:tags r:id="rId3"/>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BM25 + vector search (hybrid retrieval)</a:t>
            </a:r>
            <a:endParaRPr lang="en-IN" altLang="en-US"/>
          </a:p>
        </p:txBody>
      </p:sp>
      <p:sp>
        <p:nvSpPr>
          <p:cNvPr id="3" name="Content Placeholder 2"/>
          <p:cNvSpPr>
            <a:spLocks noGrp="1"/>
          </p:cNvSpPr>
          <p:nvPr>
            <p:ph idx="1"/>
            <p:custDataLst>
              <p:tags r:id="rId2"/>
            </p:custDataLst>
          </p:nvPr>
        </p:nvSpPr>
        <p:spPr/>
        <p:txBody>
          <a:bodyPr>
            <a:normAutofit lnSpcReduction="20000"/>
          </a:bodyPr>
          <a:p>
            <a:pPr marL="0" indent="0">
              <a:buNone/>
            </a:pPr>
            <a:r>
              <a:rPr lang="en-US" altLang="en-US"/>
              <a:t>BM25 + Vector Search is a hybrid retrieval approach that combines traditional keyword-based search (BM25) with modern semantic search using vector embeddings.</a:t>
            </a:r>
            <a:endParaRPr lang="en-US" altLang="en-US"/>
          </a:p>
          <a:p>
            <a:endParaRPr lang="en-US" altLang="en-US"/>
          </a:p>
          <a:p>
            <a:pPr marL="0" indent="0">
              <a:buNone/>
            </a:pPr>
            <a:r>
              <a:rPr lang="en-US" altLang="en-US"/>
              <a:t>BM25 focuses on exact keyword matching and ranking based on term frequency, while vector search focuses on meaning and context similarity. By combining both methods, the system can retrieve results that are both precise and semantically relevant.</a:t>
            </a:r>
            <a:endParaRPr lang="en-US" altLang="en-US"/>
          </a:p>
          <a:p>
            <a:endParaRPr lang="en-US" altLang="en-US"/>
          </a:p>
          <a:p>
            <a:pPr marL="0" indent="0">
              <a:buNone/>
            </a:pPr>
            <a:r>
              <a:rPr lang="en-US" altLang="en-US"/>
              <a:t>This hybrid approach improves search accuracy by ensuring that important keyword matches are not missed, while also capturing results that may use different wording but have similar meaning.</a:t>
            </a:r>
            <a:endParaRPr lang="en-US" altLang="en-US"/>
          </a:p>
          <a:p>
            <a:endParaRPr lang="en-US" altLang="en-US"/>
          </a:p>
        </p:txBody>
      </p:sp>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RAG Architecture</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Topics~</a:t>
            </a:r>
            <a:br>
              <a:rPr lang="en-IN" altLang="en-US" sz="2800"/>
            </a:br>
            <a:r>
              <a:rPr lang="en-IN" altLang="en-US" sz="2400"/>
              <a:t>1. </a:t>
            </a:r>
            <a:r>
              <a:rPr lang="en-US" altLang="en-US" sz="2400"/>
              <a:t>Prompt Engineering</a:t>
            </a:r>
            <a:br>
              <a:rPr lang="en-US" altLang="en-US" sz="2400"/>
            </a:br>
            <a:r>
              <a:rPr lang="en-IN" altLang="en-US" sz="2400"/>
              <a:t>2. </a:t>
            </a:r>
            <a:r>
              <a:rPr lang="en-US" altLang="en-US" sz="2400"/>
              <a:t>Context Augmentation</a:t>
            </a:r>
            <a:endParaRPr lang="en-US" altLang="en-US" sz="2400"/>
          </a:p>
        </p:txBody>
      </p:sp>
    </p:spTree>
    <p:custDataLst>
      <p:tags r:id="rId3"/>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249045" y="771525"/>
            <a:ext cx="9025255" cy="4905375"/>
          </a:xfrm>
          <a:prstGeom prst="rect">
            <a:avLst/>
          </a:prstGeom>
        </p:spPr>
      </p:pic>
    </p:spTree>
    <p:custDataLst>
      <p:tags r:id="rId2"/>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613410" y="232410"/>
            <a:ext cx="10306050" cy="5761990"/>
          </a:xfrm>
          <a:prstGeom prst="rect">
            <a:avLst/>
          </a:prstGeom>
        </p:spPr>
      </p:pic>
    </p:spTree>
    <p:custDataLst>
      <p:tags r:id="rId2"/>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282700" y="422275"/>
            <a:ext cx="9245600" cy="5632450"/>
          </a:xfrm>
          <a:prstGeom prst="rect">
            <a:avLst/>
          </a:prstGeom>
        </p:spPr>
      </p:pic>
    </p:spTree>
    <p:custDataLst>
      <p:tags r:id="rId2"/>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663700" y="1290955"/>
            <a:ext cx="8175625" cy="4194175"/>
          </a:xfrm>
          <a:prstGeom prst="rect">
            <a:avLst/>
          </a:prstGeom>
        </p:spPr>
      </p:pic>
    </p:spTree>
    <p:custDataLst>
      <p:tags r:id="rId2"/>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2163445" y="841375"/>
            <a:ext cx="7609840" cy="5199380"/>
          </a:xfrm>
          <a:prstGeom prst="rect">
            <a:avLst/>
          </a:prstGeom>
        </p:spPr>
      </p:pic>
    </p:spTree>
    <p:custDataLst>
      <p:tags r:id="rId2"/>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Prompt engineering</a:t>
            </a:r>
            <a:endParaRPr lang="en-IN" altLang="en-US"/>
          </a:p>
        </p:txBody>
      </p:sp>
      <p:sp>
        <p:nvSpPr>
          <p:cNvPr id="3" name="Content Placeholder 2"/>
          <p:cNvSpPr>
            <a:spLocks noGrp="1"/>
          </p:cNvSpPr>
          <p:nvPr>
            <p:ph idx="1"/>
            <p:custDataLst>
              <p:tags r:id="rId2"/>
            </p:custDataLst>
          </p:nvPr>
        </p:nvSpPr>
        <p:spPr/>
        <p:txBody>
          <a:bodyPr>
            <a:normAutofit lnSpcReduction="20000"/>
          </a:bodyPr>
          <a:p>
            <a:pPr marL="0" indent="0">
              <a:buNone/>
            </a:pPr>
            <a:endParaRPr lang="en-US" altLang="en-US"/>
          </a:p>
          <a:p>
            <a:pPr marL="0" indent="0">
              <a:buNone/>
            </a:pPr>
            <a:r>
              <a:rPr lang="en-US" altLang="en-US"/>
              <a:t>Prompt engineering is the process of designing and structuring inputs (prompts) in a way that helps AI models produce better and more accurate responses.</a:t>
            </a:r>
            <a:endParaRPr lang="en-US" altLang="en-US"/>
          </a:p>
          <a:p>
            <a:endParaRPr lang="en-US" altLang="en-US"/>
          </a:p>
          <a:p>
            <a:pPr marL="0" indent="0">
              <a:buNone/>
            </a:pPr>
            <a:r>
              <a:rPr lang="en-US" altLang="en-US"/>
              <a:t>In RAG systems, prompt engineering ensures that retrieved information is properly included and clearly communicated to the language model. A well-designed prompt guides the model on how to use the context, what format to follow, and what type of response is expected.</a:t>
            </a:r>
            <a:endParaRPr lang="en-US" altLang="en-US"/>
          </a:p>
          <a:p>
            <a:endParaRPr lang="en-US" altLang="en-US"/>
          </a:p>
          <a:p>
            <a:pPr marL="0" indent="0">
              <a:buNone/>
            </a:pPr>
            <a:r>
              <a:rPr lang="en-US" altLang="en-US"/>
              <a:t>Effective prompt engineering improves the quality, relevance, and consistency of AI-generated outputs.</a:t>
            </a:r>
            <a:endParaRPr lang="en-US" altLang="en-US"/>
          </a:p>
          <a:p>
            <a:endParaRPr lang="en-US" altLang="en-US"/>
          </a:p>
        </p:txBody>
      </p:sp>
    </p:spTree>
    <p:custDataLst>
      <p:tags r:id="rId3"/>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3048000" y="1651000"/>
            <a:ext cx="5715000" cy="3175000"/>
          </a:xfrm>
          <a:prstGeom prst="rect">
            <a:avLst/>
          </a:prstGeom>
        </p:spPr>
      </p:pic>
    </p:spTree>
    <p:custDataLst>
      <p:tags r:id="rId2"/>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241300" y="0"/>
            <a:ext cx="11606530" cy="6551295"/>
          </a:xfrm>
          <a:prstGeom prst="rect">
            <a:avLst/>
          </a:prstGeom>
        </p:spPr>
      </p:pic>
    </p:spTree>
    <p:custDataLst>
      <p:tags r:id="rId2"/>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Context augmentation</a:t>
            </a:r>
            <a:endParaRPr lang="en-IN" altLang="en-US"/>
          </a:p>
        </p:txBody>
      </p:sp>
      <p:sp>
        <p:nvSpPr>
          <p:cNvPr id="3" name="Content Placeholder 2"/>
          <p:cNvSpPr>
            <a:spLocks noGrp="1"/>
          </p:cNvSpPr>
          <p:nvPr>
            <p:ph idx="1"/>
            <p:custDataLst>
              <p:tags r:id="rId2"/>
            </p:custDataLst>
          </p:nvPr>
        </p:nvSpPr>
        <p:spPr/>
        <p:txBody>
          <a:bodyPr>
            <a:normAutofit lnSpcReduction="10000"/>
          </a:bodyPr>
          <a:p>
            <a:pPr marL="0" indent="0">
              <a:buNone/>
            </a:pPr>
            <a:r>
              <a:rPr lang="en-US" altLang="en-US"/>
              <a:t>Context augmentation is the process of adding relevant retrieved information to the user’s input before sending it to a language model. This extra information comes from external sources like documents, databases, or search systems.</a:t>
            </a:r>
            <a:endParaRPr lang="en-US" altLang="en-US"/>
          </a:p>
          <a:p>
            <a:endParaRPr lang="en-US" altLang="en-US"/>
          </a:p>
          <a:p>
            <a:pPr marL="0" indent="0">
              <a:buNone/>
            </a:pPr>
            <a:r>
              <a:rPr lang="en-US" altLang="en-US"/>
              <a:t>By enriching the input with useful context, the model can generate more accurate and informed responses instead of relying only on its internal training data.</a:t>
            </a:r>
            <a:endParaRPr lang="en-US" altLang="en-US"/>
          </a:p>
          <a:p>
            <a:endParaRPr lang="en-US" altLang="en-US"/>
          </a:p>
          <a:p>
            <a:pPr marL="0" indent="0">
              <a:buNone/>
            </a:pPr>
            <a:r>
              <a:rPr lang="en-US" altLang="en-US"/>
              <a:t>Context augmentation is a key step in RAG systems because it bridges the gap between retrieved knowledge and generated answers.</a:t>
            </a:r>
            <a:endParaRPr lang="en-US" altLang="en-US"/>
          </a:p>
          <a:p>
            <a:endParaRPr lang="en-US" altLang="en-US"/>
          </a:p>
        </p:txBody>
      </p:sp>
    </p:spTree>
    <p:custDataLst>
      <p:tags r:id="rId3"/>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LLM Fundamentals</a:t>
            </a:r>
            <a:endParaRPr lang="en-US" altLang="en-US"/>
          </a:p>
        </p:txBody>
      </p:sp>
      <p:sp>
        <p:nvSpPr>
          <p:cNvPr id="3" name="Content Placeholder 2"/>
          <p:cNvSpPr>
            <a:spLocks noGrp="1"/>
          </p:cNvSpPr>
          <p:nvPr>
            <p:ph idx="1"/>
            <p:custDataLst>
              <p:tags r:id="rId2"/>
            </p:custDataLst>
          </p:nvPr>
        </p:nvSpPr>
        <p:spPr/>
        <p:txBody>
          <a:bodyPr/>
          <a:p>
            <a:pPr marL="0" indent="0">
              <a:buNone/>
            </a:pPr>
            <a:r>
              <a:rPr lang="en-IN" altLang="en-US" sz="2800"/>
              <a:t>Topics~</a:t>
            </a:r>
            <a:br>
              <a:rPr lang="en-IN" altLang="en-US" sz="2800"/>
            </a:br>
            <a:r>
              <a:rPr lang="en-IN" altLang="en-US" sz="2800"/>
              <a:t>1. </a:t>
            </a:r>
            <a:r>
              <a:rPr lang="en-US" altLang="en-US" sz="2800"/>
              <a:t>Tokens</a:t>
            </a:r>
            <a:br>
              <a:rPr lang="en-US" altLang="en-US" sz="2800"/>
            </a:br>
            <a:r>
              <a:rPr lang="en-IN" altLang="en-US" sz="2800"/>
              <a:t>2. </a:t>
            </a:r>
            <a:r>
              <a:rPr lang="en-US" altLang="en-US" sz="2800"/>
              <a:t>Hallucination Mitigation</a:t>
            </a:r>
            <a:br>
              <a:rPr lang="en-US" altLang="en-US" sz="2800"/>
            </a:br>
            <a:r>
              <a:rPr lang="en-IN" altLang="en-US" sz="2800"/>
              <a:t>3. </a:t>
            </a:r>
            <a:r>
              <a:rPr lang="en-US" altLang="en-US" sz="2800"/>
              <a:t>Prompting</a:t>
            </a:r>
            <a:endParaRPr lang="en-US" altLang="en-US" sz="2800"/>
          </a:p>
        </p:txBody>
      </p:sp>
    </p:spTree>
    <p:custDataLst>
      <p:tags r:id="rId3"/>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Tokens</a:t>
            </a:r>
            <a:endParaRPr lang="en-IN" altLang="en-US"/>
          </a:p>
        </p:txBody>
      </p:sp>
      <p:sp>
        <p:nvSpPr>
          <p:cNvPr id="3" name="Content Placeholder 2"/>
          <p:cNvSpPr>
            <a:spLocks noGrp="1"/>
          </p:cNvSpPr>
          <p:nvPr>
            <p:ph idx="1"/>
            <p:custDataLst>
              <p:tags r:id="rId2"/>
            </p:custDataLst>
          </p:nvPr>
        </p:nvSpPr>
        <p:spPr/>
        <p:txBody>
          <a:bodyPr>
            <a:normAutofit lnSpcReduction="10000"/>
          </a:bodyPr>
          <a:p>
            <a:pPr marL="0" indent="0">
              <a:buNone/>
            </a:pPr>
            <a:r>
              <a:rPr lang="en-US" altLang="en-US"/>
              <a:t>Tokens are the basic units of text used by Large Language Models. Instead of reading full sentences as humans do, LLMs break text into smaller pieces called tokens, which can be words, parts of words, or punctuation.</a:t>
            </a:r>
            <a:endParaRPr lang="en-US" altLang="en-US"/>
          </a:p>
          <a:p>
            <a:endParaRPr lang="en-US" altLang="en-US"/>
          </a:p>
          <a:p>
            <a:pPr marL="0" indent="0">
              <a:buNone/>
            </a:pPr>
            <a:r>
              <a:rPr lang="en-US" altLang="en-US"/>
              <a:t>For example, the sentence “AI is powerful” might be split into tokens like “AI”, “is”, and “powerful”.</a:t>
            </a:r>
            <a:endParaRPr lang="en-US" altLang="en-US"/>
          </a:p>
          <a:p>
            <a:endParaRPr lang="en-US" altLang="en-US"/>
          </a:p>
          <a:p>
            <a:pPr marL="0" indent="0">
              <a:buNone/>
            </a:pPr>
            <a:r>
              <a:rPr lang="en-US" altLang="en-US"/>
              <a:t>Tokens are important because LLMs process and generate text one token at a time, and limits on input/output are also measured in tokens.</a:t>
            </a:r>
            <a:endParaRPr lang="en-US" altLang="en-US"/>
          </a:p>
          <a:p>
            <a:endParaRPr lang="en-US" altLang="en-US"/>
          </a:p>
        </p:txBody>
      </p:sp>
    </p:spTree>
    <p:custDataLst>
      <p:tags r:id="rId3"/>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Hallucination mitigation</a:t>
            </a:r>
            <a:endParaRPr lang="en-IN" altLang="en-US"/>
          </a:p>
        </p:txBody>
      </p:sp>
      <p:sp>
        <p:nvSpPr>
          <p:cNvPr id="3" name="Content Placeholder 2"/>
          <p:cNvSpPr>
            <a:spLocks noGrp="1"/>
          </p:cNvSpPr>
          <p:nvPr>
            <p:ph idx="1"/>
            <p:custDataLst>
              <p:tags r:id="rId2"/>
            </p:custDataLst>
          </p:nvPr>
        </p:nvSpPr>
        <p:spPr/>
        <p:txBody>
          <a:bodyPr/>
          <a:p>
            <a:pPr marL="0" indent="0">
              <a:buNone/>
            </a:pPr>
            <a:r>
              <a:rPr lang="en-US" altLang="en-US"/>
              <a:t>Hallucination in LLMs refers to situations where the model generates incorrect or made-up information that sounds believable. Hallucination mitigation is the process of reducing these errors and improving factual accuracy.</a:t>
            </a:r>
            <a:endParaRPr lang="en-US" altLang="en-US"/>
          </a:p>
          <a:p>
            <a:endParaRPr lang="en-US" altLang="en-US"/>
          </a:p>
          <a:p>
            <a:pPr marL="0" indent="0">
              <a:buNone/>
            </a:pPr>
            <a:r>
              <a:rPr lang="en-US" altLang="en-US"/>
              <a:t>This can be done using techniques like retrieval-augmented generation (RAG), better prompting, using verified data sources, and fine-tuning models on high-quality datasets.</a:t>
            </a:r>
            <a:endParaRPr lang="en-US" altLang="en-US"/>
          </a:p>
          <a:p>
            <a:endParaRPr lang="en-US" altLang="en-US"/>
          </a:p>
          <a:p>
            <a:pPr marL="0" indent="0">
              <a:buNone/>
            </a:pPr>
            <a:r>
              <a:rPr lang="en-US" altLang="en-US"/>
              <a:t>The goal is to make AI responses more reliable, factual, and trustworthy.</a:t>
            </a:r>
            <a:endParaRPr lang="en-US" altLang="en-US"/>
          </a:p>
          <a:p>
            <a:endParaRPr lang="en-US" altLang="en-US"/>
          </a:p>
        </p:txBody>
      </p:sp>
    </p:spTree>
    <p:custDataLst>
      <p:tags r:id="rId3"/>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marL="0" indent="0">
              <a:buFont typeface="Arial" panose="020B0604020202020204" pitchFamily="34" charset="0"/>
            </a:pPr>
            <a:r>
              <a:rPr lang="en-IN" altLang="en-US"/>
              <a:t>Prompting</a:t>
            </a:r>
            <a:endParaRPr lang="en-IN" altLang="en-US"/>
          </a:p>
        </p:txBody>
      </p:sp>
      <p:sp>
        <p:nvSpPr>
          <p:cNvPr id="3" name="Content Placeholder 2"/>
          <p:cNvSpPr>
            <a:spLocks noGrp="1"/>
          </p:cNvSpPr>
          <p:nvPr>
            <p:ph idx="1"/>
            <p:custDataLst>
              <p:tags r:id="rId2"/>
            </p:custDataLst>
          </p:nvPr>
        </p:nvSpPr>
        <p:spPr/>
        <p:txBody>
          <a:bodyPr>
            <a:normAutofit lnSpcReduction="20000"/>
          </a:bodyPr>
          <a:p>
            <a:pPr marL="0" indent="0">
              <a:buNone/>
            </a:pPr>
            <a:r>
              <a:rPr lang="en-US" altLang="en-US"/>
              <a:t>Prompting is the process of giving instructions or questions to a Large Language Model to guide its output. The way a prompt is written strongly affects the quality and relevance of the response.</a:t>
            </a:r>
            <a:endParaRPr lang="en-US" altLang="en-US"/>
          </a:p>
          <a:p>
            <a:endParaRPr lang="en-US" altLang="en-US"/>
          </a:p>
          <a:p>
            <a:pPr marL="0" indent="0">
              <a:buNone/>
            </a:pPr>
            <a:r>
              <a:rPr lang="en-US" altLang="en-US"/>
              <a:t>Good prompting includes clear instructions, context, and desired output format. Different prompting techniques, such as few-shot or role-based prompting, can improve performance.</a:t>
            </a:r>
            <a:endParaRPr lang="en-US" altLang="en-US"/>
          </a:p>
          <a:p>
            <a:endParaRPr lang="en-US" altLang="en-US"/>
          </a:p>
          <a:p>
            <a:pPr marL="0" indent="0">
              <a:buNone/>
            </a:pPr>
            <a:r>
              <a:rPr lang="en-US" altLang="en-US"/>
              <a:t>Effective prompting helps users control the behavior of LLMs and get more accurate and useful results.</a:t>
            </a:r>
            <a:endParaRPr lang="en-US" altLang="en-US"/>
          </a:p>
          <a:p>
            <a:endParaRPr lang="en-US"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BEAUTIFY_FLAG" val="#wm#"/>
  <p:tag name="KSO_WM_TEMPLATE_CATEGORY" val="custom"/>
  <p:tag name="KSO_WM_TEMPLATE_INDEX" val="2020508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BEAUTIFY_FLAG" val="#wm#"/>
  <p:tag name="KSO_WM_TEMPLATE_CATEGORY" val="custom"/>
  <p:tag name="KSO_WM_TEMPLATE_INDEX" val="20205081"/>
</p:tagLst>
</file>

<file path=ppt/tags/tag10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BEAUTIFY_FLAG" val="#wm#"/>
  <p:tag name="KSO_WM_TEMPLATE_CATEGORY" val="custom"/>
  <p:tag name="KSO_WM_TEMPLATE_INDEX" val="20205081"/>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BEAUTIFY_FLAG" val="#wm#"/>
  <p:tag name="KSO_WM_TEMPLATE_CATEGORY" val="custom"/>
  <p:tag name="KSO_WM_TEMPLATE_INDEX" val="2020508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0508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p="http://schemas.openxmlformats.org/presentationml/2006/main">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BEAUTIFY_FLAG" val="#wm#"/>
  <p:tag name="KSO_WM_TEMPLATE_CATEGORY" val="custom"/>
  <p:tag name="KSO_WM_TEMPLATE_INDEX" val="2020508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05081"/>
</p:tagLst>
</file>

<file path=ppt/tags/tag133.xml><?xml version="1.0" encoding="utf-8"?>
<p:tagLst xmlns:p="http://schemas.openxmlformats.org/presentationml/2006/main">
  <p:tag name="KSO_WM_BEAUTIFY_FLAG" val="#wm#"/>
  <p:tag name="KSO_WM_TEMPLATE_CATEGORY" val="custom"/>
  <p:tag name="KSO_WM_TEMPLATE_INDEX" val="2020508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BEAUTIFY_FLAG" val="#wm#"/>
  <p:tag name="KSO_WM_TEMPLATE_CATEGORY" val="custom"/>
  <p:tag name="KSO_WM_TEMPLATE_INDEX" val="20205081"/>
</p:tagLst>
</file>

<file path=ppt/tags/tag136.xml><?xml version="1.0" encoding="utf-8"?>
<p:tagLst xmlns:p="http://schemas.openxmlformats.org/presentationml/2006/main">
  <p:tag name="KSO_WM_BEAUTIFY_FLAG" val="#wm#"/>
  <p:tag name="KSO_WM_TEMPLATE_CATEGORY" val="custom"/>
  <p:tag name="KSO_WM_TEMPLATE_INDEX" val="20205081"/>
</p:tagLst>
</file>

<file path=ppt/tags/tag137.xml><?xml version="1.0" encoding="utf-8"?>
<p:tagLst xmlns:p="http://schemas.openxmlformats.org/presentationml/2006/main">
  <p:tag name="KSO_WM_BEAUTIFY_FLAG" val="#wm#"/>
  <p:tag name="KSO_WM_TEMPLATE_CATEGORY" val="custom"/>
  <p:tag name="KSO_WM_TEMPLATE_INDEX" val="2020508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BEAUTIFY_FLAG" val="#wm#"/>
  <p:tag name="KSO_WM_TEMPLATE_CATEGORY" val="custom"/>
  <p:tag name="KSO_WM_TEMPLATE_INDEX" val="2020508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p="http://schemas.openxmlformats.org/presentationml/2006/main">
  <p:tag name="KSO_WM_BEAUTIFY_FLAG" val="#wm#"/>
  <p:tag name="KSO_WM_TEMPLATE_CATEGORY" val="custom"/>
  <p:tag name="KSO_WM_TEMPLATE_INDEX" val="2020508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08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p="http://schemas.openxmlformats.org/presentationml/2006/main">
  <p:tag name="KSO_WM_BEAUTIFY_FLAG" val="#wm#"/>
  <p:tag name="KSO_WM_TEMPLATE_CATEGORY" val="custom"/>
  <p:tag name="KSO_WM_TEMPLATE_INDEX" val="2020508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p="http://schemas.openxmlformats.org/presentationml/2006/main">
  <p:tag name="KSO_WM_BEAUTIFY_FLAG" val="#wm#"/>
  <p:tag name="KSO_WM_TEMPLATE_CATEGORY" val="custom"/>
  <p:tag name="KSO_WM_TEMPLATE_INDEX" val="2020508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p="http://schemas.openxmlformats.org/presentationml/2006/main">
  <p:tag name="KSO_WM_BEAUTIFY_FLAG" val="#wm#"/>
  <p:tag name="KSO_WM_TEMPLATE_CATEGORY" val="custom"/>
  <p:tag name="KSO_WM_TEMPLATE_INDEX" val="20205081"/>
</p:tagLst>
</file>

<file path=ppt/tags/tag159.xml><?xml version="1.0" encoding="utf-8"?>
<p:tagLst xmlns:p="http://schemas.openxmlformats.org/presentationml/2006/main">
  <p:tag name="KSO_WM_BEAUTIFY_FLAG" val="#wm#"/>
  <p:tag name="KSO_WM_TEMPLATE_CATEGORY" val="custom"/>
  <p:tag name="KSO_WM_TEMPLATE_INDEX" val="2020508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2.xml><?xml version="1.0" encoding="utf-8"?>
<p:tagLst xmlns:p="http://schemas.openxmlformats.org/presentationml/2006/main">
  <p:tag name="KSO_WM_BEAUTIFY_FLAG" val="#wm#"/>
  <p:tag name="KSO_WM_TEMPLATE_CATEGORY" val="custom"/>
  <p:tag name="KSO_WM_TEMPLATE_INDEX" val="2020508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8.xml><?xml version="1.0" encoding="utf-8"?>
<p:tagLst xmlns:p="http://schemas.openxmlformats.org/presentationml/2006/main">
  <p:tag name="KSO_WM_BEAUTIFY_FLAG" val="#wm#"/>
  <p:tag name="KSO_WM_TEMPLATE_CATEGORY" val="custom"/>
  <p:tag name="KSO_WM_TEMPLATE_INDEX" val="2020508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1.xml><?xml version="1.0" encoding="utf-8"?>
<p:tagLst xmlns:p="http://schemas.openxmlformats.org/presentationml/2006/main">
  <p:tag name="KSO_WM_BEAUTIFY_FLAG" val="#wm#"/>
  <p:tag name="KSO_WM_TEMPLATE_CATEGORY" val="custom"/>
  <p:tag name="KSO_WM_TEMPLATE_INDEX" val="2020508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4.xml><?xml version="1.0" encoding="utf-8"?>
<p:tagLst xmlns:p="http://schemas.openxmlformats.org/presentationml/2006/main">
  <p:tag name="KSO_WM_BEAUTIFY_FLAG" val="#wm#"/>
  <p:tag name="KSO_WM_TEMPLATE_CATEGORY" val="custom"/>
  <p:tag name="KSO_WM_TEMPLATE_INDEX" val="2020508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7.xml><?xml version="1.0" encoding="utf-8"?>
<p:tagLst xmlns:p="http://schemas.openxmlformats.org/presentationml/2006/main">
  <p:tag name="KSO_WM_BEAUTIFY_FLAG" val="#wm#"/>
  <p:tag name="KSO_WM_TEMPLATE_CATEGORY" val="custom"/>
  <p:tag name="KSO_WM_TEMPLATE_INDEX" val="2020508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0.xml><?xml version="1.0" encoding="utf-8"?>
<p:tagLst xmlns:p="http://schemas.openxmlformats.org/presentationml/2006/main">
  <p:tag name="KSO_WM_BEAUTIFY_FLAG" val="#wm#"/>
  <p:tag name="KSO_WM_TEMPLATE_CATEGORY" val="custom"/>
  <p:tag name="KSO_WM_TEMPLATE_INDEX" val="2020508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3.xml><?xml version="1.0" encoding="utf-8"?>
<p:tagLst xmlns:p="http://schemas.openxmlformats.org/presentationml/2006/main">
  <p:tag name="KSO_WM_BEAUTIFY_FLAG" val="#wm#"/>
  <p:tag name="KSO_WM_TEMPLATE_CATEGORY" val="custom"/>
  <p:tag name="KSO_WM_TEMPLATE_INDEX" val="20205081"/>
</p:tagLst>
</file>

<file path=ppt/tags/tag184.xml><?xml version="1.0" encoding="utf-8"?>
<p:tagLst xmlns:p="http://schemas.openxmlformats.org/presentationml/2006/main">
  <p:tag name="KSO_WM_BEAUTIFY_FLAG" val="#wm#"/>
  <p:tag name="KSO_WM_TEMPLATE_CATEGORY" val="custom"/>
  <p:tag name="KSO_WM_TEMPLATE_INDEX" val="20205081"/>
</p:tagLst>
</file>

<file path=ppt/tags/tag185.xml><?xml version="1.0" encoding="utf-8"?>
<p:tagLst xmlns:p="http://schemas.openxmlformats.org/presentationml/2006/main">
  <p:tag name="KSO_WM_BEAUTIFY_FLAG" val="#wm#"/>
  <p:tag name="KSO_WM_TEMPLATE_CATEGORY" val="custom"/>
  <p:tag name="KSO_WM_TEMPLATE_INDEX" val="20205081"/>
</p:tagLst>
</file>

<file path=ppt/tags/tag186.xml><?xml version="1.0" encoding="utf-8"?>
<p:tagLst xmlns:p="http://schemas.openxmlformats.org/presentationml/2006/main">
  <p:tag name="KSO_WM_BEAUTIFY_FLAG" val="#wm#"/>
  <p:tag name="KSO_WM_TEMPLATE_CATEGORY" val="custom"/>
  <p:tag name="KSO_WM_TEMPLATE_INDEX" val="20205081"/>
</p:tagLst>
</file>

<file path=ppt/tags/tag187.xml><?xml version="1.0" encoding="utf-8"?>
<p:tagLst xmlns:p="http://schemas.openxmlformats.org/presentationml/2006/main">
  <p:tag name="KSO_WM_BEAUTIFY_FLAG" val="#wm#"/>
  <p:tag name="KSO_WM_TEMPLATE_CATEGORY" val="custom"/>
  <p:tag name="KSO_WM_TEMPLATE_INDEX" val="20205081"/>
</p:tagLst>
</file>

<file path=ppt/tags/tag188.xml><?xml version="1.0" encoding="utf-8"?>
<p:tagLst xmlns:p="http://schemas.openxmlformats.org/presentationml/2006/main">
  <p:tag name="KSO_WM_BEAUTIFY_FLAG" val="#wm#"/>
  <p:tag name="KSO_WM_TEMPLATE_CATEGORY" val="custom"/>
  <p:tag name="KSO_WM_TEMPLATE_INDEX" val="2020508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1.xml><?xml version="1.0" encoding="utf-8"?>
<p:tagLst xmlns:p="http://schemas.openxmlformats.org/presentationml/2006/main">
  <p:tag name="KSO_WM_BEAUTIFY_FLAG" val="#wm#"/>
  <p:tag name="KSO_WM_TEMPLATE_CATEGORY" val="custom"/>
  <p:tag name="KSO_WM_TEMPLATE_INDEX" val="20205081"/>
</p:tagLst>
</file>

<file path=ppt/tags/tag192.xml><?xml version="1.0" encoding="utf-8"?>
<p:tagLst xmlns:p="http://schemas.openxmlformats.org/presentationml/2006/main">
  <p:tag name="KSO_WM_BEAUTIFY_FLAG" val="#wm#"/>
  <p:tag name="KSO_WM_TEMPLATE_CATEGORY" val="custom"/>
  <p:tag name="KSO_WM_TEMPLATE_INDEX" val="20205081"/>
</p:tagLst>
</file>

<file path=ppt/tags/tag193.xml><?xml version="1.0" encoding="utf-8"?>
<p:tagLst xmlns:p="http://schemas.openxmlformats.org/presentationml/2006/main">
  <p:tag name="KSO_WM_BEAUTIFY_FLAG" val="#wm#"/>
  <p:tag name="KSO_WM_TEMPLATE_CATEGORY" val="custom"/>
  <p:tag name="KSO_WM_TEMPLATE_INDEX" val="2020508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6.xml><?xml version="1.0" encoding="utf-8"?>
<p:tagLst xmlns:p="http://schemas.openxmlformats.org/presentationml/2006/main">
  <p:tag name="KSO_WM_BEAUTIFY_FLAG" val="#wm#"/>
  <p:tag name="KSO_WM_TEMPLATE_CATEGORY" val="custom"/>
  <p:tag name="KSO_WM_TEMPLATE_INDEX" val="2020508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9.xml><?xml version="1.0" encoding="utf-8"?>
<p:tagLst xmlns:p="http://schemas.openxmlformats.org/presentationml/2006/main">
  <p:tag name="KSO_WM_BEAUTIFY_FLAG" val="#wm#"/>
  <p:tag name="KSO_WM_TEMPLATE_CATEGORY" val="custom"/>
  <p:tag name="KSO_WM_TEMPLATE_INDEX" val="2020508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2.xml><?xml version="1.0" encoding="utf-8"?>
<p:tagLst xmlns:p="http://schemas.openxmlformats.org/presentationml/2006/main">
  <p:tag name="KSO_WM_BEAUTIFY_FLAG" val="#wm#"/>
  <p:tag name="KSO_WM_TEMPLATE_CATEGORY" val="custom"/>
  <p:tag name="KSO_WM_TEMPLATE_INDEX" val="2020508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5.xml><?xml version="1.0" encoding="utf-8"?>
<p:tagLst xmlns:p="http://schemas.openxmlformats.org/presentationml/2006/main">
  <p:tag name="KSO_WM_BEAUTIFY_FLAG" val="#wm#"/>
  <p:tag name="KSO_WM_TEMPLATE_CATEGORY" val="custom"/>
  <p:tag name="KSO_WM_TEMPLATE_INDEX" val="2020508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8.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14379</Words>
  <Application>WPS Presentation</Application>
  <PresentationFormat>Widescreen</PresentationFormat>
  <Paragraphs>278</Paragraphs>
  <Slides>65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65</vt:i4>
      </vt:variant>
    </vt:vector>
  </HeadingPairs>
  <TitlesOfParts>
    <vt:vector size="80" baseType="lpstr">
      <vt:lpstr>Arial</vt:lpstr>
      <vt:lpstr>SimSun</vt:lpstr>
      <vt:lpstr>Wingdings</vt:lpstr>
      <vt:lpstr>Wingdings</vt:lpstr>
      <vt:lpstr>Microsoft YaHei</vt:lpstr>
      <vt:lpstr>Arial Unicode MS</vt:lpstr>
      <vt:lpstr>Calibri</vt:lpstr>
      <vt:lpstr>等线</vt:lpstr>
      <vt:lpstr>江城圆体 400W</vt:lpstr>
      <vt:lpstr>Charis SIL</vt:lpstr>
      <vt:lpstr>Euphorigenic</vt:lpstr>
      <vt:lpstr>Crimson Text SemiBold</vt:lpstr>
      <vt:lpstr>Lato</vt:lpstr>
      <vt:lpstr>Manrope ExtraBold</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dc:title>
  <dc:creator>Hp</dc:creator>
  <cp:lastModifiedBy>Manisha Shah</cp:lastModifiedBy>
  <cp:revision>9</cp:revision>
  <dcterms:created xsi:type="dcterms:W3CDTF">2026-06-04T08:54:58Z</dcterms:created>
  <dcterms:modified xsi:type="dcterms:W3CDTF">2026-06-04T09:23:57Z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98ACBC2E6A3C42DF85C49AA3312AAB13_11</vt:lpwstr>
  </property>
</Properties>
</file>